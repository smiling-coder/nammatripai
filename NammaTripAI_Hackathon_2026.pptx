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9815fa08-303d-c7ff-d79b-faa048f70b37}">
          <p14:sldIdLst>
            <p14:sldId id="256"/>
          </p14:sldIdLst>
        </p14:section>
        <p14:section name="Problem" id="{37b45b18-0ccf-5d48-b6f8-b8b632b0df25}">
          <p14:sldIdLst>
            <p14:sldId id="257"/>
          </p14:sldIdLst>
        </p14:section>
        <p14:section name="Existing system" id="{fe8abf36-a674-18a4-6e74-b52b27db6271}">
          <p14:sldIdLst>
            <p14:sldId id="258"/>
          </p14:sldIdLst>
        </p14:section>
        <p14:section name="Solution" id="{002923ee-974e-956d-1949-91ec349cb265}">
          <p14:sldIdLst>
            <p14:sldId id="259"/>
          </p14:sldIdLst>
        </p14:section>
        <p14:section name="Features" id="{b3dfa544-f636-9f4a-8482-1d70733d0d61}">
          <p14:sldIdLst>
            <p14:sldId id="260"/>
          </p14:sldIdLst>
        </p14:section>
        <p14:section name="Methodology" id="{c797e1c6-dbb4-1765-4b4e-fb539d860bd7}">
          <p14:sldIdLst>
            <p14:sldId id="261"/>
          </p14:sldIdLst>
        </p14:section>
        <p14:section name="Architecture" id="{5c01e6c7-41bf-061c-6654-8ae1a2068a9d}">
          <p14:sldIdLst>
            <p14:sldId id="262"/>
          </p14:sldIdLst>
        </p14:section>
        <p14:section name="Live demo" id="{d001305c-e002-d971-cc93-ca8f575fab85}">
          <p14:sldIdLst>
            <p14:sldId id="263"/>
          </p14:sldIdLst>
        </p14:section>
        <p14:section name="Conclusion" id="{df43f104-d27f-7631-d971-ce5b293a852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This is NammaTrip AI, my project for the Kannada Digital Innovation Hackathon 2026. The theme is Code, Create, Celebrate Kannada. My chosen problem statement is an AI Travel Planner for Kannada. The tagline is: Your Budget, Your Journey, Your Karnataka. In the next few minutes I will show the problem, the solution, how I built it,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problem. When someone plans a trip, they often collect information from many places. They also compare costs and make budget estimates by hand. And many Kannada speakers may prefer a Kannada-friendly experience. This can help first-time visitors, Kannada speakers, students, families, and budget travellers. Good planning should be simple and available in your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people plan trips today? Usually they search travel websites, use maps, read different information sources, and calculate costs by hand. This can lead to scattered information, comparisons that take time, manual budgeting, and sometimes language preferences are not met. Please note: many travel platforms are very good. These are only common pain points, not problems of every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solution: NammaTrip AI, a simple Karnataka-focused trip-planning prototype. The journey has four steps. One, the user gives preferences like budget, days, and interests. Two, the app suggests destinations. Three, it shows a budget estimate. Four, the user can explore places and open them in Google Maps. On the right you can see screenshots of the real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features that work in the current version. You can switch between Kannada and English. There is a trip form where you enter your starting city, days, budget, and interests. You can browse thirteen curated Karnataka destinations. The app creates a day-by-day plan and a budget split. There is also a culture corner with local food, history, and useful Kannada phrases. Our focus is Karnataka, Kannada accessibility, and beginner-friendly planning. The budget numbers are estimates, not live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built the project in six steps. One, I identified the need: easy Karnataka trip planning in Kannada. Two, I planned the screens and the user flow. Three, I built the page structure with HTML. Four, I styled it with CSS so it looks good and works on small screens. Five, I added JavaScript for the language switch, trip plans, and budget estimates. Six, I tested the website and published it on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technology. HTML builds the page structure. CSS gives the design and makes it responsive. JavaScript handles the interactions and the recommendation logic. Everything runs in the traveller's web browser. The traveller uses the interface, JavaScript applies the rules and the curated destination data, and the results are shown on screen. A destination can open in Google Maps. This is a frontend prototype. There is no backend, no database, and no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The website is on GitHub Pages, and the code is public on my GitHub repository. In the demo I will open the website and show the interface. Then I enter a budget, number of days, and my interests, and press Create my plan. I will show the day-by-day plan and the budget split. At the end, I will open a destination link in Google Maps. You can also switch the language between Kannada and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NammaTrip AI aims to make Karnataka trip planning easier, more accessible, and more Kannada-friendly. I want to be honest about the limits: it is a rule-based prototype, not a generative AI system. It has thirteen curated destinations, its costs are estimates and not live prices, and it has no bookings, weather, or backend. In future, I would like to add real AI-based itineraries, more verified destinations, better cost data, weather, and saved trip plans. NammaTrip AI: Your Budget, Your Journey, Your Karnataka.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868680"/>
            <a:ext cx="4389120" cy="91440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tx2"/>
                </a:solidFill>
              </a:rPr>
              <a:t>NammaTrip AI  |  Kannada Digital Innovation Hackathon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smiling-coder.github.io/NammaTripAI/" TargetMode="External"/><Relationship Id="rId5" Type="http://schemas.openxmlformats.org/officeDocument/2006/relationships/hyperlink" Target="https://github.com/smiling-coder" TargetMode="External"/><Relationship Id="rId7" Type="http://schemas.openxmlformats.org/officeDocument/2006/relationships/hyperlink" Target="https://github.com/smiling-coder/NammaTripAI"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6" Type="http://schemas.openxmlformats.org/officeDocument/2006/relationships/image" Target="../media/image-8-4.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work" descr="Illustration of a Karnataka temple gateway at sunset with green hills">    </p:cNvPr>
          <p:cNvPicPr>
            <a:picLocks noChangeAspect="1"/>
          </p:cNvPicPr>
          <p:nvPr/>
        </p:nvPicPr>
        <p:blipFill>
          <a:blip r:embed="rId1"/>
          <a:stretch>
            <a:fillRect/>
          </a:stretch>
        </p:blipFill>
        <p:spPr>
          <a:xfrm>
            <a:off x="4937760" y="0"/>
            <a:ext cx="4206240" cy="5143500"/>
          </a:xfrm>
          <a:prstGeom prst="rect">
            <a:avLst/>
          </a:prstGeom>
        </p:spPr>
      </p:pic>
      <p:sp>
        <p:nvSpPr>
          <p:cNvPr id="3" name="Event label"/>
          <p:cNvSpPr txBox="1"/>
          <p:nvPr/>
        </p:nvSpPr>
        <p:spPr>
          <a:xfrm>
            <a:off x="457200" y="502920"/>
            <a:ext cx="4389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KANNADA DIGITAL INNOVATION HACKATHON 2026</a:t>
            </a:r>
            <a:endParaRPr lang="en-US" sz="1200" dirty="0"/>
          </a:p>
        </p:txBody>
      </p:sp>
      <p:sp>
        <p:nvSpPr>
          <p:cNvPr id="4" name="Text 0"/>
          <p:cNvSpPr/>
          <p:nvPr>
            <p:ph idx="100" type="title" hasCustomPrompt="1"/>
          </p:nvPr>
        </p:nvSpPr>
        <p:spPr>
          <a:xfrm>
            <a:off x="457200" y="868680"/>
            <a:ext cx="4389120" cy="914400"/>
          </a:xfrm>
          <a:prstGeom prst="rect">
            <a:avLst/>
          </a:prstGeom>
          <a:noFill/>
          <a:ln/>
        </p:spPr>
        <p:txBody>
          <a:bodyPr wrap="square" lIns="0" tIns="0" rIns="0" bIns="0" rtlCol="0" anchor="ctr"/>
          <a:lstStyle/>
          <a:p>
            <a:pPr algn="l" indent="0" marL="0">
              <a:buNone/>
            </a:pPr>
            <a:r>
              <a:rPr lang="en-US" sz="5200" b="1" dirty="0">
                <a:solidFill>
                  <a:schemeClr val="bg1"/>
                </a:solidFill>
              </a:rPr>
              <a:t>NammaTrip AI</a:t>
            </a:r>
            <a:endParaRPr lang="en-US" sz="5200" dirty="0"/>
          </a:p>
        </p:txBody>
      </p:sp>
      <p:sp>
        <p:nvSpPr>
          <p:cNvPr id="5" name="Tagline"/>
          <p:cNvSpPr txBox="1"/>
          <p:nvPr/>
        </p:nvSpPr>
        <p:spPr>
          <a:xfrm>
            <a:off x="457200" y="1874520"/>
            <a:ext cx="4297680" cy="777240"/>
          </a:xfrm>
          <a:prstGeom prst="rect">
            <a:avLst/>
          </a:prstGeom>
          <a:noFill/>
          <a:ln/>
        </p:spPr>
        <p:txBody>
          <a:bodyPr wrap="square" lIns="0" tIns="0" rIns="0" bIns="0" rtlCol="0" anchor="t"/>
          <a:lstStyle/>
          <a:p>
            <a:pPr indent="0" marL="0">
              <a:buNone/>
            </a:pPr>
            <a:r>
              <a:rPr lang="en-US" sz="2100" i="1" dirty="0">
                <a:solidFill>
                  <a:schemeClr val="accent1"/>
                </a:solidFill>
              </a:rPr>
              <a:t>“Your Budget. Your Journey. Your Karnataka.”</a:t>
            </a:r>
            <a:endParaRPr lang="en-US" sz="2100" dirty="0"/>
          </a:p>
        </p:txBody>
      </p:sp>
      <p:sp>
        <p:nvSpPr>
          <p:cNvPr id="6" name="Problem statement"/>
          <p:cNvSpPr txBox="1"/>
          <p:nvPr/>
        </p:nvSpPr>
        <p:spPr>
          <a:xfrm>
            <a:off x="457200" y="2788920"/>
            <a:ext cx="4297680" cy="365760"/>
          </a:xfrm>
          <a:prstGeom prst="rect">
            <a:avLst/>
          </a:prstGeom>
          <a:noFill/>
          <a:ln/>
        </p:spPr>
        <p:txBody>
          <a:bodyPr wrap="square" lIns="0" tIns="0" rIns="0" bIns="0" rtlCol="0" anchor="t"/>
          <a:lstStyle/>
          <a:p>
            <a:pPr indent="0" marL="0">
              <a:buNone/>
            </a:pPr>
            <a:r>
              <a:rPr lang="en-US" sz="2000" b="1" dirty="0">
                <a:solidFill>
                  <a:schemeClr val="bg1"/>
                </a:solidFill>
              </a:rPr>
              <a:t>AI Travel Planner for Kannada</a:t>
            </a:r>
            <a:endParaRPr lang="en-US" sz="2000" dirty="0"/>
          </a:p>
        </p:txBody>
      </p:sp>
      <p:sp>
        <p:nvSpPr>
          <p:cNvPr id="7" name="Theme"/>
          <p:cNvSpPr txBox="1"/>
          <p:nvPr/>
        </p:nvSpPr>
        <p:spPr>
          <a:xfrm>
            <a:off x="457200" y="3200400"/>
            <a:ext cx="4297680" cy="320040"/>
          </a:xfrm>
          <a:prstGeom prst="rect">
            <a:avLst/>
          </a:prstGeom>
          <a:noFill/>
          <a:ln/>
        </p:spPr>
        <p:txBody>
          <a:bodyPr wrap="square" lIns="0" tIns="0" rIns="0" bIns="0" rtlCol="0" anchor="t"/>
          <a:lstStyle/>
          <a:p>
            <a:pPr indent="0" marL="0">
              <a:buNone/>
            </a:pPr>
            <a:r>
              <a:rPr lang="en-US" sz="1400" dirty="0">
                <a:solidFill>
                  <a:schemeClr val="bg1"/>
                </a:solidFill>
              </a:rPr>
              <a:t>Theme: Code. Create. Celebrate Kannada.</a:t>
            </a:r>
            <a:endParaRPr lang="en-US" sz="1400" dirty="0"/>
          </a:p>
        </p:txBody>
      </p:sp>
      <p:sp>
        <p:nvSpPr>
          <p:cNvPr id="8" name="Organiser"/>
          <p:cNvSpPr txBox="1"/>
          <p:nvPr/>
        </p:nvSpPr>
        <p:spPr>
          <a:xfrm>
            <a:off x="457200" y="3840480"/>
            <a:ext cx="4297680" cy="274320"/>
          </a:xfrm>
          <a:prstGeom prst="rect">
            <a:avLst/>
          </a:prstGeom>
          <a:noFill/>
          <a:ln/>
        </p:spPr>
        <p:txBody>
          <a:bodyPr wrap="square" lIns="0" tIns="0" rIns="0" bIns="0" rtlCol="0" anchor="t"/>
          <a:lstStyle/>
          <a:p>
            <a:pPr indent="0" marL="0">
              <a:buNone/>
            </a:pPr>
            <a:r>
              <a:rPr lang="en-US" sz="1200" dirty="0">
                <a:solidFill>
                  <a:schemeClr val="accent4"/>
                </a:solidFill>
              </a:rPr>
              <a:t>Organised by HackerRank Campus Crew and NIE Mysuru</a:t>
            </a:r>
            <a:endParaRPr lang="en-US" sz="1200" dirty="0"/>
          </a:p>
        </p:txBody>
      </p:sp>
      <p:sp>
        <p:nvSpPr>
          <p:cNvPr id="9" name="GitHub icon circle"/>
          <p:cNvSpPr/>
          <p:nvPr/>
        </p:nvSpPr>
        <p:spPr>
          <a:xfrm>
            <a:off x="457200" y="4297680"/>
            <a:ext cx="411480" cy="411480"/>
          </a:xfrm>
          <a:prstGeom prst="ellipse">
            <a:avLst/>
          </a:prstGeom>
          <a:solidFill>
            <a:schemeClr val="accent1"/>
          </a:solidFill>
          <a:ln w="12700">
            <a:solidFill>
              <a:schemeClr val="accent1"/>
            </a:solidFill>
            <a:prstDash val="solid"/>
          </a:ln>
        </p:spPr>
      </p:sp>
      <p:pic>
        <p:nvPicPr>
          <p:cNvPr id="10" name="GitHub icon" descr="GitHub icon">    </p:cNvPr>
          <p:cNvPicPr>
            <a:picLocks noChangeAspect="1"/>
          </p:cNvPicPr>
          <p:nvPr/>
        </p:nvPicPr>
        <p:blipFill>
          <a:blip r:embed="rId2"/>
          <a:stretch>
            <a:fillRect/>
          </a:stretch>
        </p:blipFill>
        <p:spPr>
          <a:xfrm>
            <a:off x="564185" y="4404665"/>
            <a:ext cx="197510" cy="197510"/>
          </a:xfrm>
          <a:prstGeom prst="rect">
            <a:avLst/>
          </a:prstGeom>
        </p:spPr>
      </p:pic>
      <p:sp>
        <p:nvSpPr>
          <p:cNvPr id="11" name="Developer"/>
          <p:cNvSpPr txBox="1"/>
          <p:nvPr/>
        </p:nvSpPr>
        <p:spPr>
          <a:xfrm>
            <a:off x="1005840" y="4297680"/>
            <a:ext cx="3657600" cy="411480"/>
          </a:xfrm>
          <a:prstGeom prst="rect">
            <a:avLst/>
          </a:prstGeom>
          <a:noFill/>
          <a:ln/>
        </p:spPr>
        <p:txBody>
          <a:bodyPr wrap="square" lIns="0" tIns="0" rIns="0" bIns="0" rtlCol="0" anchor="ctr"/>
          <a:lstStyle/>
          <a:p>
            <a:pPr indent="0" marL="0">
              <a:buNone/>
            </a:pPr>
            <a:r>
              <a:rPr lang="en-US" sz="1600" b="1" dirty="0">
                <a:solidFill>
                  <a:schemeClr val="bg1"/>
                </a:solidFill>
              </a:rPr>
              <a:t>Developer: smiling-coder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Problem Statement</a:t>
            </a:r>
            <a:endParaRPr lang="en-US" sz="3400" dirty="0"/>
          </a:p>
        </p:txBody>
      </p:sp>
      <p:sp>
        <p:nvSpPr>
          <p:cNvPr id="3" name="Subtitle"/>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600" dirty="0">
                <a:solidFill>
                  <a:schemeClr val="tx2"/>
                </a:solidFill>
              </a:rPr>
              <a:t>Easier planning helps more people discover Karnataka in their own language.</a:t>
            </a:r>
            <a:endParaRPr lang="en-US" sz="1600" dirty="0"/>
          </a:p>
        </p:txBody>
      </p:sp>
      <p:sp>
        <p:nvSpPr>
          <p:cNvPr id="4" name="Problem card 1"/>
          <p:cNvSpPr/>
          <p:nvPr/>
        </p:nvSpPr>
        <p:spPr>
          <a:xfrm>
            <a:off x="457200" y="1508760"/>
            <a:ext cx="2606040" cy="1965960"/>
          </a:xfrm>
          <a:prstGeom prst="roundRect">
            <a:avLst>
              <a:gd name="adj" fmla="val 5581"/>
            </a:avLst>
          </a:prstGeom>
          <a:solidFill>
            <a:schemeClr val="bg2"/>
          </a:solidFill>
          <a:ln w="12700">
            <a:solidFill>
              <a:schemeClr val="bg2"/>
            </a:solidFill>
            <a:prstDash val="solid"/>
          </a:ln>
        </p:spPr>
      </p:sp>
      <p:sp>
        <p:nvSpPr>
          <p:cNvPr id="5" name="Problem icon 1 circle"/>
          <p:cNvSpPr/>
          <p:nvPr/>
        </p:nvSpPr>
        <p:spPr>
          <a:xfrm>
            <a:off x="640080" y="1691640"/>
            <a:ext cx="502920" cy="502920"/>
          </a:xfrm>
          <a:prstGeom prst="ellipse">
            <a:avLst/>
          </a:prstGeom>
          <a:solidFill>
            <a:schemeClr val="tx1"/>
          </a:solidFill>
          <a:ln w="12700">
            <a:solidFill>
              <a:schemeClr val="tx1"/>
            </a:solidFill>
            <a:prstDash val="solid"/>
          </a:ln>
        </p:spPr>
      </p:sp>
      <p:pic>
        <p:nvPicPr>
          <p:cNvPr id="6" name="Problem icon 1" descr="Problem icon 1">    </p:cNvPr>
          <p:cNvPicPr>
            <a:picLocks noChangeAspect="1"/>
          </p:cNvPicPr>
          <p:nvPr/>
        </p:nvPicPr>
        <p:blipFill>
          <a:blip r:embed="rId1"/>
          <a:stretch>
            <a:fillRect/>
          </a:stretch>
        </p:blipFill>
        <p:spPr>
          <a:xfrm>
            <a:off x="770839" y="1822399"/>
            <a:ext cx="241402" cy="241402"/>
          </a:xfrm>
          <a:prstGeom prst="rect">
            <a:avLst/>
          </a:prstGeom>
        </p:spPr>
      </p:pic>
      <p:sp>
        <p:nvSpPr>
          <p:cNvPr id="7" name="Problem title 1"/>
          <p:cNvSpPr txBox="1"/>
          <p:nvPr/>
        </p:nvSpPr>
        <p:spPr>
          <a:xfrm>
            <a:off x="640080" y="2313432"/>
            <a:ext cx="2240280" cy="320040"/>
          </a:xfrm>
          <a:prstGeom prst="rect">
            <a:avLst/>
          </a:prstGeom>
          <a:noFill/>
          <a:ln/>
        </p:spPr>
        <p:txBody>
          <a:bodyPr wrap="square" lIns="0" tIns="0" rIns="0" bIns="0" rtlCol="0" anchor="t"/>
          <a:lstStyle/>
          <a:p>
            <a:pPr indent="0" marL="0">
              <a:buNone/>
            </a:pPr>
            <a:r>
              <a:rPr lang="en-US" sz="1700" b="1" dirty="0">
                <a:solidFill>
                  <a:schemeClr val="tx1"/>
                </a:solidFill>
              </a:rPr>
              <a:t>Scattered information</a:t>
            </a:r>
            <a:endParaRPr lang="en-US" sz="1700" dirty="0"/>
          </a:p>
        </p:txBody>
      </p:sp>
      <p:sp>
        <p:nvSpPr>
          <p:cNvPr id="8" name="Problem text 1"/>
          <p:cNvSpPr txBox="1"/>
          <p:nvPr/>
        </p:nvSpPr>
        <p:spPr>
          <a:xfrm>
            <a:off x="640080" y="2651760"/>
            <a:ext cx="2240280" cy="731520"/>
          </a:xfrm>
          <a:prstGeom prst="rect">
            <a:avLst/>
          </a:prstGeom>
          <a:noFill/>
          <a:ln/>
        </p:spPr>
        <p:txBody>
          <a:bodyPr wrap="square" lIns="0" tIns="0" rIns="0" bIns="0" rtlCol="0" anchor="t"/>
          <a:lstStyle/>
          <a:p>
            <a:pPr indent="0" marL="0">
              <a:buNone/>
            </a:pPr>
            <a:r>
              <a:rPr lang="en-US" sz="1400" dirty="0">
                <a:solidFill>
                  <a:schemeClr val="tx1"/>
                </a:solidFill>
              </a:rPr>
              <a:t>Destination and trip details can be spread across many sources.</a:t>
            </a:r>
            <a:endParaRPr lang="en-US" sz="1400" dirty="0"/>
          </a:p>
        </p:txBody>
      </p:sp>
      <p:sp>
        <p:nvSpPr>
          <p:cNvPr id="9" name="Problem card 2"/>
          <p:cNvSpPr/>
          <p:nvPr/>
        </p:nvSpPr>
        <p:spPr>
          <a:xfrm>
            <a:off x="3268980" y="1508760"/>
            <a:ext cx="2606040" cy="1965960"/>
          </a:xfrm>
          <a:prstGeom prst="roundRect">
            <a:avLst>
              <a:gd name="adj" fmla="val 5581"/>
            </a:avLst>
          </a:prstGeom>
          <a:solidFill>
            <a:schemeClr val="bg2"/>
          </a:solidFill>
          <a:ln w="12700">
            <a:solidFill>
              <a:schemeClr val="bg2"/>
            </a:solidFill>
            <a:prstDash val="solid"/>
          </a:ln>
        </p:spPr>
      </p:sp>
      <p:sp>
        <p:nvSpPr>
          <p:cNvPr id="10" name="Problem icon 2 circle"/>
          <p:cNvSpPr/>
          <p:nvPr/>
        </p:nvSpPr>
        <p:spPr>
          <a:xfrm>
            <a:off x="3451860" y="1691640"/>
            <a:ext cx="502920" cy="502920"/>
          </a:xfrm>
          <a:prstGeom prst="ellipse">
            <a:avLst/>
          </a:prstGeom>
          <a:solidFill>
            <a:schemeClr val="tx1"/>
          </a:solidFill>
          <a:ln w="12700">
            <a:solidFill>
              <a:schemeClr val="tx1"/>
            </a:solidFill>
            <a:prstDash val="solid"/>
          </a:ln>
        </p:spPr>
      </p:sp>
      <p:pic>
        <p:nvPicPr>
          <p:cNvPr id="11" name="Problem icon 2" descr="Problem icon 2">    </p:cNvPr>
          <p:cNvPicPr>
            <a:picLocks noChangeAspect="1"/>
          </p:cNvPicPr>
          <p:nvPr/>
        </p:nvPicPr>
        <p:blipFill>
          <a:blip r:embed="rId2"/>
          <a:stretch>
            <a:fillRect/>
          </a:stretch>
        </p:blipFill>
        <p:spPr>
          <a:xfrm>
            <a:off x="3582619" y="1822399"/>
            <a:ext cx="241402" cy="241402"/>
          </a:xfrm>
          <a:prstGeom prst="rect">
            <a:avLst/>
          </a:prstGeom>
        </p:spPr>
      </p:pic>
      <p:sp>
        <p:nvSpPr>
          <p:cNvPr id="12" name="Problem title 2"/>
          <p:cNvSpPr txBox="1"/>
          <p:nvPr/>
        </p:nvSpPr>
        <p:spPr>
          <a:xfrm>
            <a:off x="3451860" y="2313432"/>
            <a:ext cx="2240280" cy="320040"/>
          </a:xfrm>
          <a:prstGeom prst="rect">
            <a:avLst/>
          </a:prstGeom>
          <a:noFill/>
          <a:ln/>
        </p:spPr>
        <p:txBody>
          <a:bodyPr wrap="square" lIns="0" tIns="0" rIns="0" bIns="0" rtlCol="0" anchor="t"/>
          <a:lstStyle/>
          <a:p>
            <a:pPr indent="0" marL="0">
              <a:buNone/>
            </a:pPr>
            <a:r>
              <a:rPr lang="en-US" sz="1700" b="1" dirty="0">
                <a:solidFill>
                  <a:schemeClr val="tx1"/>
                </a:solidFill>
              </a:rPr>
              <a:t>Manual budgeting</a:t>
            </a:r>
            <a:endParaRPr lang="en-US" sz="1700" dirty="0"/>
          </a:p>
        </p:txBody>
      </p:sp>
      <p:sp>
        <p:nvSpPr>
          <p:cNvPr id="13" name="Problem text 2"/>
          <p:cNvSpPr txBox="1"/>
          <p:nvPr/>
        </p:nvSpPr>
        <p:spPr>
          <a:xfrm>
            <a:off x="3451860" y="2651760"/>
            <a:ext cx="2240280" cy="731520"/>
          </a:xfrm>
          <a:prstGeom prst="rect">
            <a:avLst/>
          </a:prstGeom>
          <a:noFill/>
          <a:ln/>
        </p:spPr>
        <p:txBody>
          <a:bodyPr wrap="square" lIns="0" tIns="0" rIns="0" bIns="0" rtlCol="0" anchor="t"/>
          <a:lstStyle/>
          <a:p>
            <a:pPr indent="0" marL="0">
              <a:buNone/>
            </a:pPr>
            <a:r>
              <a:rPr lang="en-US" sz="1400" dirty="0">
                <a:solidFill>
                  <a:schemeClr val="tx1"/>
                </a:solidFill>
              </a:rPr>
              <a:t>Costs are often compared and estimated by hand.</a:t>
            </a:r>
            <a:endParaRPr lang="en-US" sz="1400" dirty="0"/>
          </a:p>
        </p:txBody>
      </p:sp>
      <p:sp>
        <p:nvSpPr>
          <p:cNvPr id="14" name="Problem card 3"/>
          <p:cNvSpPr/>
          <p:nvPr/>
        </p:nvSpPr>
        <p:spPr>
          <a:xfrm>
            <a:off x="6080760" y="1508760"/>
            <a:ext cx="2606040" cy="1965960"/>
          </a:xfrm>
          <a:prstGeom prst="roundRect">
            <a:avLst>
              <a:gd name="adj" fmla="val 5581"/>
            </a:avLst>
          </a:prstGeom>
          <a:solidFill>
            <a:schemeClr val="bg2"/>
          </a:solidFill>
          <a:ln w="12700">
            <a:solidFill>
              <a:schemeClr val="bg2"/>
            </a:solidFill>
            <a:prstDash val="solid"/>
          </a:ln>
        </p:spPr>
      </p:sp>
      <p:sp>
        <p:nvSpPr>
          <p:cNvPr id="15" name="Problem icon 3 circle"/>
          <p:cNvSpPr/>
          <p:nvPr/>
        </p:nvSpPr>
        <p:spPr>
          <a:xfrm>
            <a:off x="6263640" y="1691640"/>
            <a:ext cx="502920" cy="502920"/>
          </a:xfrm>
          <a:prstGeom prst="ellipse">
            <a:avLst/>
          </a:prstGeom>
          <a:solidFill>
            <a:schemeClr val="tx1"/>
          </a:solidFill>
          <a:ln w="12700">
            <a:solidFill>
              <a:schemeClr val="tx1"/>
            </a:solidFill>
            <a:prstDash val="solid"/>
          </a:ln>
        </p:spPr>
      </p:sp>
      <p:pic>
        <p:nvPicPr>
          <p:cNvPr id="16" name="Problem icon 3" descr="Problem icon 3">    </p:cNvPr>
          <p:cNvPicPr>
            <a:picLocks noChangeAspect="1"/>
          </p:cNvPicPr>
          <p:nvPr/>
        </p:nvPicPr>
        <p:blipFill>
          <a:blip r:embed="rId3"/>
          <a:stretch>
            <a:fillRect/>
          </a:stretch>
        </p:blipFill>
        <p:spPr>
          <a:xfrm>
            <a:off x="6394399" y="1822399"/>
            <a:ext cx="241402" cy="241402"/>
          </a:xfrm>
          <a:prstGeom prst="rect">
            <a:avLst/>
          </a:prstGeom>
        </p:spPr>
      </p:pic>
      <p:sp>
        <p:nvSpPr>
          <p:cNvPr id="17" name="Problem title 3"/>
          <p:cNvSpPr txBox="1"/>
          <p:nvPr/>
        </p:nvSpPr>
        <p:spPr>
          <a:xfrm>
            <a:off x="6263640" y="2313432"/>
            <a:ext cx="2240280" cy="320040"/>
          </a:xfrm>
          <a:prstGeom prst="rect">
            <a:avLst/>
          </a:prstGeom>
          <a:noFill/>
          <a:ln/>
        </p:spPr>
        <p:txBody>
          <a:bodyPr wrap="square" lIns="0" tIns="0" rIns="0" bIns="0" rtlCol="0" anchor="t"/>
          <a:lstStyle/>
          <a:p>
            <a:pPr indent="0" marL="0">
              <a:buNone/>
            </a:pPr>
            <a:r>
              <a:rPr lang="en-US" sz="1700" b="1" dirty="0">
                <a:solidFill>
                  <a:schemeClr val="tx1"/>
                </a:solidFill>
              </a:rPr>
              <a:t>Language preference</a:t>
            </a:r>
            <a:endParaRPr lang="en-US" sz="1700" dirty="0"/>
          </a:p>
        </p:txBody>
      </p:sp>
      <p:sp>
        <p:nvSpPr>
          <p:cNvPr id="18" name="Problem text 3"/>
          <p:cNvSpPr txBox="1"/>
          <p:nvPr/>
        </p:nvSpPr>
        <p:spPr>
          <a:xfrm>
            <a:off x="6263640" y="2651760"/>
            <a:ext cx="2240280" cy="731520"/>
          </a:xfrm>
          <a:prstGeom prst="rect">
            <a:avLst/>
          </a:prstGeom>
          <a:noFill/>
          <a:ln/>
        </p:spPr>
        <p:txBody>
          <a:bodyPr wrap="square" lIns="0" tIns="0" rIns="0" bIns="0" rtlCol="0" anchor="t"/>
          <a:lstStyle/>
          <a:p>
            <a:pPr indent="0" marL="0">
              <a:buNone/>
            </a:pPr>
            <a:r>
              <a:rPr lang="en-US" sz="1400" dirty="0">
                <a:solidFill>
                  <a:schemeClr val="tx1"/>
                </a:solidFill>
              </a:rPr>
              <a:t>Kannada speakers may prefer a more Kannada-friendly experience.</a:t>
            </a:r>
            <a:endParaRPr lang="en-US" sz="1400" dirty="0"/>
          </a:p>
        </p:txBody>
      </p:sp>
      <p:sp>
        <p:nvSpPr>
          <p:cNvPr id="19" name="Beneficiaries heading"/>
          <p:cNvSpPr txBox="1"/>
          <p:nvPr/>
        </p:nvSpPr>
        <p:spPr>
          <a:xfrm>
            <a:off x="457200" y="3675888"/>
            <a:ext cx="4572000" cy="292608"/>
          </a:xfrm>
          <a:prstGeom prst="rect">
            <a:avLst/>
          </a:prstGeom>
          <a:noFill/>
          <a:ln/>
        </p:spPr>
        <p:txBody>
          <a:bodyPr wrap="square" lIns="0" tIns="0" rIns="0" bIns="0" rtlCol="0" anchor="t"/>
          <a:lstStyle/>
          <a:p>
            <a:pPr indent="0" marL="0">
              <a:buNone/>
            </a:pPr>
            <a:r>
              <a:rPr lang="en-US" sz="1700" b="1" dirty="0">
                <a:solidFill>
                  <a:schemeClr val="tx1"/>
                </a:solidFill>
              </a:rPr>
              <a:t>Who could benefit</a:t>
            </a:r>
            <a:endParaRPr lang="en-US" sz="1700" dirty="0"/>
          </a:p>
        </p:txBody>
      </p:sp>
      <p:sp>
        <p:nvSpPr>
          <p:cNvPr id="20" name="Beneficiary 1"/>
          <p:cNvSpPr/>
          <p:nvPr/>
        </p:nvSpPr>
        <p:spPr>
          <a:xfrm>
            <a:off x="457200" y="4041648"/>
            <a:ext cx="19202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tx1"/>
                </a:solidFill>
              </a:rPr>
              <a:t>First-time visitors</a:t>
            </a:r>
            <a:endParaRPr lang="en-US" sz="1400" dirty="0"/>
          </a:p>
        </p:txBody>
      </p:sp>
      <p:sp>
        <p:nvSpPr>
          <p:cNvPr id="21" name="Beneficiary 2"/>
          <p:cNvSpPr/>
          <p:nvPr/>
        </p:nvSpPr>
        <p:spPr>
          <a:xfrm>
            <a:off x="2560320" y="4041648"/>
            <a:ext cx="19202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tx1"/>
                </a:solidFill>
              </a:rPr>
              <a:t>Kannada speakers</a:t>
            </a:r>
            <a:endParaRPr lang="en-US" sz="1400" dirty="0"/>
          </a:p>
        </p:txBody>
      </p:sp>
      <p:sp>
        <p:nvSpPr>
          <p:cNvPr id="22" name="Beneficiary 3"/>
          <p:cNvSpPr/>
          <p:nvPr/>
        </p:nvSpPr>
        <p:spPr>
          <a:xfrm>
            <a:off x="4663440" y="4041648"/>
            <a:ext cx="19202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tx1"/>
                </a:solidFill>
              </a:rPr>
              <a:t>Budget travellers</a:t>
            </a:r>
            <a:endParaRPr lang="en-US" sz="1400" dirty="0"/>
          </a:p>
        </p:txBody>
      </p:sp>
      <p:sp>
        <p:nvSpPr>
          <p:cNvPr id="23" name="Beneficiary 4"/>
          <p:cNvSpPr/>
          <p:nvPr/>
        </p:nvSpPr>
        <p:spPr>
          <a:xfrm>
            <a:off x="6766560" y="4041648"/>
            <a:ext cx="192024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tx1"/>
                </a:solidFill>
              </a:rPr>
              <a:t>Families &amp; students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Existing System &amp; Its Gaps</a:t>
            </a:r>
            <a:endParaRPr lang="en-US" sz="3400" dirty="0"/>
          </a:p>
        </p:txBody>
      </p:sp>
      <p:sp>
        <p:nvSpPr>
          <p:cNvPr id="3" name="Today card"/>
          <p:cNvSpPr/>
          <p:nvPr/>
        </p:nvSpPr>
        <p:spPr>
          <a:xfrm>
            <a:off x="457200" y="1143000"/>
            <a:ext cx="3703320" cy="3017520"/>
          </a:xfrm>
          <a:prstGeom prst="roundRect">
            <a:avLst>
              <a:gd name="adj" fmla="val 3636"/>
            </a:avLst>
          </a:prstGeom>
          <a:solidFill>
            <a:schemeClr val="bg2"/>
          </a:solidFill>
          <a:ln w="12700">
            <a:solidFill>
              <a:schemeClr val="bg2"/>
            </a:solidFill>
            <a:prstDash val="solid"/>
          </a:ln>
        </p:spPr>
      </p:sp>
      <p:sp>
        <p:nvSpPr>
          <p:cNvPr id="4" name="Gaps card"/>
          <p:cNvSpPr/>
          <p:nvPr/>
        </p:nvSpPr>
        <p:spPr>
          <a:xfrm>
            <a:off x="4983480" y="1143000"/>
            <a:ext cx="3703320" cy="3017520"/>
          </a:xfrm>
          <a:prstGeom prst="roundRect">
            <a:avLst>
              <a:gd name="adj" fmla="val 3636"/>
            </a:avLst>
          </a:prstGeom>
          <a:solidFill>
            <a:schemeClr val="tx1"/>
          </a:solidFill>
          <a:ln w="12700">
            <a:solidFill>
              <a:schemeClr val="tx1"/>
            </a:solidFill>
            <a:prstDash val="solid"/>
          </a:ln>
        </p:spPr>
      </p:sp>
      <p:sp>
        <p:nvSpPr>
          <p:cNvPr id="5" name="Today heading"/>
          <p:cNvSpPr txBox="1"/>
          <p:nvPr/>
        </p:nvSpPr>
        <p:spPr>
          <a:xfrm>
            <a:off x="685800" y="1325880"/>
            <a:ext cx="3291840" cy="365760"/>
          </a:xfrm>
          <a:prstGeom prst="rect">
            <a:avLst/>
          </a:prstGeom>
          <a:noFill/>
          <a:ln/>
        </p:spPr>
        <p:txBody>
          <a:bodyPr wrap="square" lIns="0" tIns="0" rIns="0" bIns="0" rtlCol="0" anchor="t"/>
          <a:lstStyle/>
          <a:p>
            <a:pPr indent="0" marL="0">
              <a:buNone/>
            </a:pPr>
            <a:r>
              <a:rPr lang="en-US" sz="1900" b="1" dirty="0">
                <a:solidFill>
                  <a:schemeClr val="tx1"/>
                </a:solidFill>
              </a:rPr>
              <a:t>How people plan today</a:t>
            </a:r>
            <a:endParaRPr lang="en-US" sz="1900" dirty="0"/>
          </a:p>
        </p:txBody>
      </p:sp>
      <p:sp>
        <p:nvSpPr>
          <p:cNvPr id="6" name="Gaps heading"/>
          <p:cNvSpPr txBox="1"/>
          <p:nvPr/>
        </p:nvSpPr>
        <p:spPr>
          <a:xfrm>
            <a:off x="5212080" y="1325880"/>
            <a:ext cx="3291840" cy="365760"/>
          </a:xfrm>
          <a:prstGeom prst="rect">
            <a:avLst/>
          </a:prstGeom>
          <a:noFill/>
          <a:ln/>
        </p:spPr>
        <p:txBody>
          <a:bodyPr wrap="square" lIns="0" tIns="0" rIns="0" bIns="0" rtlCol="0" anchor="t"/>
          <a:lstStyle/>
          <a:p>
            <a:pPr indent="0" marL="0">
              <a:buNone/>
            </a:pPr>
            <a:r>
              <a:rPr lang="en-US" sz="1900" b="1" dirty="0">
                <a:solidFill>
                  <a:schemeClr val="accent1"/>
                </a:solidFill>
              </a:rPr>
              <a:t>Possible limitations</a:t>
            </a:r>
            <a:endParaRPr lang="en-US" sz="1900" dirty="0"/>
          </a:p>
        </p:txBody>
      </p:sp>
      <p:sp>
        <p:nvSpPr>
          <p:cNvPr id="7" name="Today icon 1 circle"/>
          <p:cNvSpPr/>
          <p:nvPr/>
        </p:nvSpPr>
        <p:spPr>
          <a:xfrm>
            <a:off x="685800" y="1874520"/>
            <a:ext cx="420624" cy="420624"/>
          </a:xfrm>
          <a:prstGeom prst="ellipse">
            <a:avLst/>
          </a:prstGeom>
          <a:solidFill>
            <a:schemeClr val="tx1"/>
          </a:solidFill>
          <a:ln w="12700">
            <a:solidFill>
              <a:schemeClr val="tx1"/>
            </a:solidFill>
            <a:prstDash val="solid"/>
          </a:ln>
        </p:spPr>
      </p:sp>
      <p:pic>
        <p:nvPicPr>
          <p:cNvPr id="8" name="Today icon 1" descr="Today icon 1">    </p:cNvPr>
          <p:cNvPicPr>
            <a:picLocks noChangeAspect="1"/>
          </p:cNvPicPr>
          <p:nvPr/>
        </p:nvPicPr>
        <p:blipFill>
          <a:blip r:embed="rId1"/>
          <a:stretch>
            <a:fillRect/>
          </a:stretch>
        </p:blipFill>
        <p:spPr>
          <a:xfrm>
            <a:off x="795162" y="1983882"/>
            <a:ext cx="201900" cy="201900"/>
          </a:xfrm>
          <a:prstGeom prst="rect">
            <a:avLst/>
          </a:prstGeom>
        </p:spPr>
      </p:pic>
      <p:sp>
        <p:nvSpPr>
          <p:cNvPr id="9" name="Today item 1"/>
          <p:cNvSpPr txBox="1"/>
          <p:nvPr/>
        </p:nvSpPr>
        <p:spPr>
          <a:xfrm>
            <a:off x="1234440" y="1874520"/>
            <a:ext cx="2788920" cy="420624"/>
          </a:xfrm>
          <a:prstGeom prst="rect">
            <a:avLst/>
          </a:prstGeom>
          <a:noFill/>
          <a:ln/>
        </p:spPr>
        <p:txBody>
          <a:bodyPr wrap="square" lIns="0" tIns="0" rIns="0" bIns="0" rtlCol="0" anchor="ctr"/>
          <a:lstStyle/>
          <a:p>
            <a:pPr indent="0" marL="0">
              <a:buNone/>
            </a:pPr>
            <a:r>
              <a:rPr lang="en-US" sz="1500" dirty="0">
                <a:solidFill>
                  <a:schemeClr val="tx1"/>
                </a:solidFill>
              </a:rPr>
              <a:t>Searching travel websites</a:t>
            </a:r>
            <a:endParaRPr lang="en-US" sz="1500" dirty="0"/>
          </a:p>
        </p:txBody>
      </p:sp>
      <p:sp>
        <p:nvSpPr>
          <p:cNvPr id="10" name="Gap icon 1 circle"/>
          <p:cNvSpPr/>
          <p:nvPr/>
        </p:nvSpPr>
        <p:spPr>
          <a:xfrm>
            <a:off x="5212080" y="1874520"/>
            <a:ext cx="420624" cy="420624"/>
          </a:xfrm>
          <a:prstGeom prst="ellipse">
            <a:avLst/>
          </a:prstGeom>
          <a:solidFill>
            <a:schemeClr val="accent1"/>
          </a:solidFill>
          <a:ln w="12700">
            <a:solidFill>
              <a:schemeClr val="accent1"/>
            </a:solidFill>
            <a:prstDash val="solid"/>
          </a:ln>
        </p:spPr>
      </p:sp>
      <p:pic>
        <p:nvPicPr>
          <p:cNvPr id="11" name="Gap icon 1" descr="Gap icon 1">    </p:cNvPr>
          <p:cNvPicPr>
            <a:picLocks noChangeAspect="1"/>
          </p:cNvPicPr>
          <p:nvPr/>
        </p:nvPicPr>
        <p:blipFill>
          <a:blip r:embed="rId2"/>
          <a:stretch>
            <a:fillRect/>
          </a:stretch>
        </p:blipFill>
        <p:spPr>
          <a:xfrm>
            <a:off x="5321442" y="1983882"/>
            <a:ext cx="201900" cy="201900"/>
          </a:xfrm>
          <a:prstGeom prst="rect">
            <a:avLst/>
          </a:prstGeom>
        </p:spPr>
      </p:pic>
      <p:sp>
        <p:nvSpPr>
          <p:cNvPr id="12" name="Gap item 1"/>
          <p:cNvSpPr txBox="1"/>
          <p:nvPr/>
        </p:nvSpPr>
        <p:spPr>
          <a:xfrm>
            <a:off x="5760720" y="1874520"/>
            <a:ext cx="2788920" cy="420624"/>
          </a:xfrm>
          <a:prstGeom prst="rect">
            <a:avLst/>
          </a:prstGeom>
          <a:noFill/>
          <a:ln/>
        </p:spPr>
        <p:txBody>
          <a:bodyPr wrap="square" lIns="0" tIns="0" rIns="0" bIns="0" rtlCol="0" anchor="ctr"/>
          <a:lstStyle/>
          <a:p>
            <a:pPr indent="0" marL="0">
              <a:buNone/>
            </a:pPr>
            <a:r>
              <a:rPr lang="en-US" sz="1500" dirty="0">
                <a:solidFill>
                  <a:schemeClr val="bg1"/>
                </a:solidFill>
              </a:rPr>
              <a:t>Scattered information</a:t>
            </a:r>
            <a:endParaRPr lang="en-US" sz="1500" dirty="0"/>
          </a:p>
        </p:txBody>
      </p:sp>
      <p:sp>
        <p:nvSpPr>
          <p:cNvPr id="13" name="Today icon 2 circle"/>
          <p:cNvSpPr/>
          <p:nvPr/>
        </p:nvSpPr>
        <p:spPr>
          <a:xfrm>
            <a:off x="685800" y="2459736"/>
            <a:ext cx="420624" cy="420624"/>
          </a:xfrm>
          <a:prstGeom prst="ellipse">
            <a:avLst/>
          </a:prstGeom>
          <a:solidFill>
            <a:schemeClr val="tx1"/>
          </a:solidFill>
          <a:ln w="12700">
            <a:solidFill>
              <a:schemeClr val="tx1"/>
            </a:solidFill>
            <a:prstDash val="solid"/>
          </a:ln>
        </p:spPr>
      </p:sp>
      <p:pic>
        <p:nvPicPr>
          <p:cNvPr id="14" name="Today icon 2" descr="Today icon 2">    </p:cNvPr>
          <p:cNvPicPr>
            <a:picLocks noChangeAspect="1"/>
          </p:cNvPicPr>
          <p:nvPr/>
        </p:nvPicPr>
        <p:blipFill>
          <a:blip r:embed="rId3"/>
          <a:stretch>
            <a:fillRect/>
          </a:stretch>
        </p:blipFill>
        <p:spPr>
          <a:xfrm>
            <a:off x="795162" y="2569098"/>
            <a:ext cx="201900" cy="201900"/>
          </a:xfrm>
          <a:prstGeom prst="rect">
            <a:avLst/>
          </a:prstGeom>
        </p:spPr>
      </p:pic>
      <p:sp>
        <p:nvSpPr>
          <p:cNvPr id="15" name="Today item 2"/>
          <p:cNvSpPr txBox="1"/>
          <p:nvPr/>
        </p:nvSpPr>
        <p:spPr>
          <a:xfrm>
            <a:off x="1234440" y="2459736"/>
            <a:ext cx="2788920" cy="420624"/>
          </a:xfrm>
          <a:prstGeom prst="rect">
            <a:avLst/>
          </a:prstGeom>
          <a:noFill/>
          <a:ln/>
        </p:spPr>
        <p:txBody>
          <a:bodyPr wrap="square" lIns="0" tIns="0" rIns="0" bIns="0" rtlCol="0" anchor="ctr"/>
          <a:lstStyle/>
          <a:p>
            <a:pPr indent="0" marL="0">
              <a:buNone/>
            </a:pPr>
            <a:r>
              <a:rPr lang="en-US" sz="1500" dirty="0">
                <a:solidFill>
                  <a:schemeClr val="tx1"/>
                </a:solidFill>
              </a:rPr>
              <a:t>Using maps to find places</a:t>
            </a:r>
            <a:endParaRPr lang="en-US" sz="1500" dirty="0"/>
          </a:p>
        </p:txBody>
      </p:sp>
      <p:sp>
        <p:nvSpPr>
          <p:cNvPr id="16" name="Gap icon 2 circle"/>
          <p:cNvSpPr/>
          <p:nvPr/>
        </p:nvSpPr>
        <p:spPr>
          <a:xfrm>
            <a:off x="5212080" y="2459736"/>
            <a:ext cx="420624" cy="420624"/>
          </a:xfrm>
          <a:prstGeom prst="ellipse">
            <a:avLst/>
          </a:prstGeom>
          <a:solidFill>
            <a:schemeClr val="accent1"/>
          </a:solidFill>
          <a:ln w="12700">
            <a:solidFill>
              <a:schemeClr val="accent1"/>
            </a:solidFill>
            <a:prstDash val="solid"/>
          </a:ln>
        </p:spPr>
      </p:sp>
      <p:pic>
        <p:nvPicPr>
          <p:cNvPr id="17" name="Gap icon 2" descr="Gap icon 2">    </p:cNvPr>
          <p:cNvPicPr>
            <a:picLocks noChangeAspect="1"/>
          </p:cNvPicPr>
          <p:nvPr/>
        </p:nvPicPr>
        <p:blipFill>
          <a:blip r:embed="rId4"/>
          <a:stretch>
            <a:fillRect/>
          </a:stretch>
        </p:blipFill>
        <p:spPr>
          <a:xfrm>
            <a:off x="5321442" y="2569098"/>
            <a:ext cx="201900" cy="201900"/>
          </a:xfrm>
          <a:prstGeom prst="rect">
            <a:avLst/>
          </a:prstGeom>
        </p:spPr>
      </p:pic>
      <p:sp>
        <p:nvSpPr>
          <p:cNvPr id="18" name="Gap item 2"/>
          <p:cNvSpPr txBox="1"/>
          <p:nvPr/>
        </p:nvSpPr>
        <p:spPr>
          <a:xfrm>
            <a:off x="5760720" y="2459736"/>
            <a:ext cx="2788920" cy="420624"/>
          </a:xfrm>
          <a:prstGeom prst="rect">
            <a:avLst/>
          </a:prstGeom>
          <a:noFill/>
          <a:ln/>
        </p:spPr>
        <p:txBody>
          <a:bodyPr wrap="square" lIns="0" tIns="0" rIns="0" bIns="0" rtlCol="0" anchor="ctr"/>
          <a:lstStyle/>
          <a:p>
            <a:pPr indent="0" marL="0">
              <a:buNone/>
            </a:pPr>
            <a:r>
              <a:rPr lang="en-US" sz="1500" dirty="0">
                <a:solidFill>
                  <a:schemeClr val="bg1"/>
                </a:solidFill>
              </a:rPr>
              <a:t>Time-consuming comparison</a:t>
            </a:r>
            <a:endParaRPr lang="en-US" sz="1500" dirty="0"/>
          </a:p>
        </p:txBody>
      </p:sp>
      <p:sp>
        <p:nvSpPr>
          <p:cNvPr id="19" name="Today icon 3 circle"/>
          <p:cNvSpPr/>
          <p:nvPr/>
        </p:nvSpPr>
        <p:spPr>
          <a:xfrm>
            <a:off x="685800" y="3044952"/>
            <a:ext cx="420624" cy="420624"/>
          </a:xfrm>
          <a:prstGeom prst="ellipse">
            <a:avLst/>
          </a:prstGeom>
          <a:solidFill>
            <a:schemeClr val="tx1"/>
          </a:solidFill>
          <a:ln w="12700">
            <a:solidFill>
              <a:schemeClr val="tx1"/>
            </a:solidFill>
            <a:prstDash val="solid"/>
          </a:ln>
        </p:spPr>
      </p:sp>
      <p:pic>
        <p:nvPicPr>
          <p:cNvPr id="20" name="Today icon 3" descr="Today icon 3">    </p:cNvPr>
          <p:cNvPicPr>
            <a:picLocks noChangeAspect="1"/>
          </p:cNvPicPr>
          <p:nvPr/>
        </p:nvPicPr>
        <p:blipFill>
          <a:blip r:embed="rId5"/>
          <a:stretch>
            <a:fillRect/>
          </a:stretch>
        </p:blipFill>
        <p:spPr>
          <a:xfrm>
            <a:off x="795162" y="3154314"/>
            <a:ext cx="201900" cy="201900"/>
          </a:xfrm>
          <a:prstGeom prst="rect">
            <a:avLst/>
          </a:prstGeom>
        </p:spPr>
      </p:pic>
      <p:sp>
        <p:nvSpPr>
          <p:cNvPr id="21" name="Today item 3"/>
          <p:cNvSpPr txBox="1"/>
          <p:nvPr/>
        </p:nvSpPr>
        <p:spPr>
          <a:xfrm>
            <a:off x="1234440" y="3044952"/>
            <a:ext cx="2788920" cy="420624"/>
          </a:xfrm>
          <a:prstGeom prst="rect">
            <a:avLst/>
          </a:prstGeom>
          <a:noFill/>
          <a:ln/>
        </p:spPr>
        <p:txBody>
          <a:bodyPr wrap="square" lIns="0" tIns="0" rIns="0" bIns="0" rtlCol="0" anchor="ctr"/>
          <a:lstStyle/>
          <a:p>
            <a:pPr indent="0" marL="0">
              <a:buNone/>
            </a:pPr>
            <a:r>
              <a:rPr lang="en-US" sz="1500" dirty="0">
                <a:solidFill>
                  <a:schemeClr val="tx1"/>
                </a:solidFill>
              </a:rPr>
              <a:t>Reading separate info sources</a:t>
            </a:r>
            <a:endParaRPr lang="en-US" sz="1500" dirty="0"/>
          </a:p>
        </p:txBody>
      </p:sp>
      <p:sp>
        <p:nvSpPr>
          <p:cNvPr id="22" name="Gap icon 3 circle"/>
          <p:cNvSpPr/>
          <p:nvPr/>
        </p:nvSpPr>
        <p:spPr>
          <a:xfrm>
            <a:off x="5212080" y="3044952"/>
            <a:ext cx="420624" cy="420624"/>
          </a:xfrm>
          <a:prstGeom prst="ellipse">
            <a:avLst/>
          </a:prstGeom>
          <a:solidFill>
            <a:schemeClr val="accent1"/>
          </a:solidFill>
          <a:ln w="12700">
            <a:solidFill>
              <a:schemeClr val="accent1"/>
            </a:solidFill>
            <a:prstDash val="solid"/>
          </a:ln>
        </p:spPr>
      </p:sp>
      <p:pic>
        <p:nvPicPr>
          <p:cNvPr id="23" name="Gap icon 3" descr="Gap icon 3">    </p:cNvPr>
          <p:cNvPicPr>
            <a:picLocks noChangeAspect="1"/>
          </p:cNvPicPr>
          <p:nvPr/>
        </p:nvPicPr>
        <p:blipFill>
          <a:blip r:embed="rId6"/>
          <a:stretch>
            <a:fillRect/>
          </a:stretch>
        </p:blipFill>
        <p:spPr>
          <a:xfrm>
            <a:off x="5321442" y="3154314"/>
            <a:ext cx="201900" cy="201900"/>
          </a:xfrm>
          <a:prstGeom prst="rect">
            <a:avLst/>
          </a:prstGeom>
        </p:spPr>
      </p:pic>
      <p:sp>
        <p:nvSpPr>
          <p:cNvPr id="24" name="Gap item 3"/>
          <p:cNvSpPr txBox="1"/>
          <p:nvPr/>
        </p:nvSpPr>
        <p:spPr>
          <a:xfrm>
            <a:off x="5760720" y="3044952"/>
            <a:ext cx="2788920" cy="420624"/>
          </a:xfrm>
          <a:prstGeom prst="rect">
            <a:avLst/>
          </a:prstGeom>
          <a:noFill/>
          <a:ln/>
        </p:spPr>
        <p:txBody>
          <a:bodyPr wrap="square" lIns="0" tIns="0" rIns="0" bIns="0" rtlCol="0" anchor="ctr"/>
          <a:lstStyle/>
          <a:p>
            <a:pPr indent="0" marL="0">
              <a:buNone/>
            </a:pPr>
            <a:r>
              <a:rPr lang="en-US" sz="1500" dirty="0">
                <a:solidFill>
                  <a:schemeClr val="bg1"/>
                </a:solidFill>
              </a:rPr>
              <a:t>Manual budgeting</a:t>
            </a:r>
            <a:endParaRPr lang="en-US" sz="1500" dirty="0"/>
          </a:p>
        </p:txBody>
      </p:sp>
      <p:sp>
        <p:nvSpPr>
          <p:cNvPr id="25" name="Today icon 4 circle"/>
          <p:cNvSpPr/>
          <p:nvPr/>
        </p:nvSpPr>
        <p:spPr>
          <a:xfrm>
            <a:off x="685800" y="3630168"/>
            <a:ext cx="420624" cy="420624"/>
          </a:xfrm>
          <a:prstGeom prst="ellipse">
            <a:avLst/>
          </a:prstGeom>
          <a:solidFill>
            <a:schemeClr val="tx1"/>
          </a:solidFill>
          <a:ln w="12700">
            <a:solidFill>
              <a:schemeClr val="tx1"/>
            </a:solidFill>
            <a:prstDash val="solid"/>
          </a:ln>
        </p:spPr>
      </p:sp>
      <p:pic>
        <p:nvPicPr>
          <p:cNvPr id="26" name="Today icon 4" descr="Today icon 4">    </p:cNvPr>
          <p:cNvPicPr>
            <a:picLocks noChangeAspect="1"/>
          </p:cNvPicPr>
          <p:nvPr/>
        </p:nvPicPr>
        <p:blipFill>
          <a:blip r:embed="rId7"/>
          <a:stretch>
            <a:fillRect/>
          </a:stretch>
        </p:blipFill>
        <p:spPr>
          <a:xfrm>
            <a:off x="795162" y="3739530"/>
            <a:ext cx="201900" cy="201900"/>
          </a:xfrm>
          <a:prstGeom prst="rect">
            <a:avLst/>
          </a:prstGeom>
        </p:spPr>
      </p:pic>
      <p:sp>
        <p:nvSpPr>
          <p:cNvPr id="27" name="Today item 4"/>
          <p:cNvSpPr txBox="1"/>
          <p:nvPr/>
        </p:nvSpPr>
        <p:spPr>
          <a:xfrm>
            <a:off x="1234440" y="3630168"/>
            <a:ext cx="2788920" cy="420624"/>
          </a:xfrm>
          <a:prstGeom prst="rect">
            <a:avLst/>
          </a:prstGeom>
          <a:noFill/>
          <a:ln/>
        </p:spPr>
        <p:txBody>
          <a:bodyPr wrap="square" lIns="0" tIns="0" rIns="0" bIns="0" rtlCol="0" anchor="ctr"/>
          <a:lstStyle/>
          <a:p>
            <a:pPr indent="0" marL="0">
              <a:buNone/>
            </a:pPr>
            <a:r>
              <a:rPr lang="en-US" sz="1500" dirty="0">
                <a:solidFill>
                  <a:schemeClr val="tx1"/>
                </a:solidFill>
              </a:rPr>
              <a:t>Adding up costs by hand</a:t>
            </a:r>
            <a:endParaRPr lang="en-US" sz="1500" dirty="0"/>
          </a:p>
        </p:txBody>
      </p:sp>
      <p:sp>
        <p:nvSpPr>
          <p:cNvPr id="28" name="Gap icon 4 circle"/>
          <p:cNvSpPr/>
          <p:nvPr/>
        </p:nvSpPr>
        <p:spPr>
          <a:xfrm>
            <a:off x="5212080" y="3630168"/>
            <a:ext cx="420624" cy="420624"/>
          </a:xfrm>
          <a:prstGeom prst="ellipse">
            <a:avLst/>
          </a:prstGeom>
          <a:solidFill>
            <a:schemeClr val="accent1"/>
          </a:solidFill>
          <a:ln w="12700">
            <a:solidFill>
              <a:schemeClr val="accent1"/>
            </a:solidFill>
            <a:prstDash val="solid"/>
          </a:ln>
        </p:spPr>
      </p:sp>
      <p:pic>
        <p:nvPicPr>
          <p:cNvPr id="29" name="Gap icon 4" descr="Gap icon 4">    </p:cNvPr>
          <p:cNvPicPr>
            <a:picLocks noChangeAspect="1"/>
          </p:cNvPicPr>
          <p:nvPr/>
        </p:nvPicPr>
        <p:blipFill>
          <a:blip r:embed="rId8"/>
          <a:stretch>
            <a:fillRect/>
          </a:stretch>
        </p:blipFill>
        <p:spPr>
          <a:xfrm>
            <a:off x="5321442" y="3739530"/>
            <a:ext cx="201900" cy="201900"/>
          </a:xfrm>
          <a:prstGeom prst="rect">
            <a:avLst/>
          </a:prstGeom>
        </p:spPr>
      </p:pic>
      <p:sp>
        <p:nvSpPr>
          <p:cNvPr id="30" name="Gap item 4"/>
          <p:cNvSpPr txBox="1"/>
          <p:nvPr/>
        </p:nvSpPr>
        <p:spPr>
          <a:xfrm>
            <a:off x="5760720" y="3630168"/>
            <a:ext cx="2788920" cy="420624"/>
          </a:xfrm>
          <a:prstGeom prst="rect">
            <a:avLst/>
          </a:prstGeom>
          <a:noFill/>
          <a:ln/>
        </p:spPr>
        <p:txBody>
          <a:bodyPr wrap="square" lIns="0" tIns="0" rIns="0" bIns="0" rtlCol="0" anchor="ctr"/>
          <a:lstStyle/>
          <a:p>
            <a:pPr indent="0" marL="0">
              <a:buNone/>
            </a:pPr>
            <a:r>
              <a:rPr lang="en-US" sz="1500" dirty="0">
                <a:solidFill>
                  <a:schemeClr val="bg1"/>
                </a:solidFill>
              </a:rPr>
              <a:t>Language preferences</a:t>
            </a:r>
            <a:endParaRPr lang="en-US" sz="1500" dirty="0"/>
          </a:p>
        </p:txBody>
      </p:sp>
      <p:sp>
        <p:nvSpPr>
          <p:cNvPr id="31" name="Arrow"/>
          <p:cNvSpPr/>
          <p:nvPr/>
        </p:nvSpPr>
        <p:spPr>
          <a:xfrm>
            <a:off x="4224528" y="2468880"/>
            <a:ext cx="640080" cy="457200"/>
          </a:xfrm>
          <a:prstGeom prst="rightArrow">
            <a:avLst/>
          </a:prstGeom>
          <a:solidFill>
            <a:schemeClr val="accent1"/>
          </a:solidFill>
          <a:ln w="12700">
            <a:solidFill>
              <a:schemeClr val="accent1"/>
            </a:solidFill>
            <a:prstDash val="solid"/>
          </a:ln>
        </p:spPr>
      </p:sp>
      <p:sp>
        <p:nvSpPr>
          <p:cNvPr id="32" name="Fairness note"/>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200" i="1" dirty="0">
                <a:solidFill>
                  <a:schemeClr val="tx2"/>
                </a:solidFill>
              </a:rPr>
              <a:t>Many travel platforms do these things well. These are common pain points, not true for every platform.</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Our Solution</a:t>
            </a:r>
            <a:endParaRPr lang="en-US" sz="3400" dirty="0"/>
          </a:p>
        </p:txBody>
      </p:sp>
      <p:sp>
        <p:nvSpPr>
          <p:cNvPr id="3" name="Subtitle"/>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600" dirty="0">
                <a:solidFill>
                  <a:schemeClr val="tx2"/>
                </a:solidFill>
              </a:rPr>
              <a:t>A simple, Karnataka-focused trip-planning prototype</a:t>
            </a:r>
            <a:endParaRPr lang="en-US" sz="1600" dirty="0"/>
          </a:p>
        </p:txBody>
      </p:sp>
      <p:sp>
        <p:nvSpPr>
          <p:cNvPr id="4" name="Step circle 1"/>
          <p:cNvSpPr/>
          <p:nvPr/>
        </p:nvSpPr>
        <p:spPr>
          <a:xfrm>
            <a:off x="457200" y="1463040"/>
            <a:ext cx="502920" cy="502920"/>
          </a:xfrm>
          <a:prstGeom prst="ellipse">
            <a:avLst/>
          </a:prstGeom>
          <a:solidFill>
            <a:schemeClr val="accent1"/>
          </a:solidFill>
          <a:ln w="12700">
            <a:solidFill>
              <a:schemeClr val="accent1"/>
            </a:solidFill>
            <a:prstDash val="solid"/>
          </a:ln>
        </p:spPr>
      </p:sp>
      <p:sp>
        <p:nvSpPr>
          <p:cNvPr id="5" name="Step number 1"/>
          <p:cNvSpPr txBox="1"/>
          <p:nvPr/>
        </p:nvSpPr>
        <p:spPr>
          <a:xfrm>
            <a:off x="457200" y="146304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Step arrow 1"/>
          <p:cNvSpPr/>
          <p:nvPr/>
        </p:nvSpPr>
        <p:spPr>
          <a:xfrm>
            <a:off x="594360" y="1993392"/>
            <a:ext cx="228600" cy="219456"/>
          </a:xfrm>
          <a:prstGeom prst="downArrow">
            <a:avLst/>
          </a:prstGeom>
          <a:solidFill>
            <a:schemeClr val="accent5"/>
          </a:solidFill>
          <a:ln w="12700">
            <a:solidFill>
              <a:schemeClr val="accent5"/>
            </a:solidFill>
            <a:prstDash val="solid"/>
          </a:ln>
        </p:spPr>
      </p:sp>
      <p:sp>
        <p:nvSpPr>
          <p:cNvPr id="7" name="Step title 1"/>
          <p:cNvSpPr txBox="1"/>
          <p:nvPr/>
        </p:nvSpPr>
        <p:spPr>
          <a:xfrm>
            <a:off x="1188720" y="1444752"/>
            <a:ext cx="3108960" cy="292608"/>
          </a:xfrm>
          <a:prstGeom prst="rect">
            <a:avLst/>
          </a:prstGeom>
          <a:noFill/>
          <a:ln/>
        </p:spPr>
        <p:txBody>
          <a:bodyPr wrap="square" lIns="0" tIns="0" rIns="0" bIns="0" rtlCol="0" anchor="t"/>
          <a:lstStyle/>
          <a:p>
            <a:pPr indent="0" marL="0">
              <a:buNone/>
            </a:pPr>
            <a:r>
              <a:rPr lang="en-US" sz="1800" b="1" dirty="0">
                <a:solidFill>
                  <a:schemeClr val="tx1"/>
                </a:solidFill>
              </a:rPr>
              <a:t>Your preferences</a:t>
            </a:r>
            <a:endParaRPr lang="en-US" sz="1800" dirty="0"/>
          </a:p>
        </p:txBody>
      </p:sp>
      <p:sp>
        <p:nvSpPr>
          <p:cNvPr id="8" name="Step text 1"/>
          <p:cNvSpPr txBox="1"/>
          <p:nvPr/>
        </p:nvSpPr>
        <p:spPr>
          <a:xfrm>
            <a:off x="1188720" y="1737360"/>
            <a:ext cx="3108960" cy="274320"/>
          </a:xfrm>
          <a:prstGeom prst="rect">
            <a:avLst/>
          </a:prstGeom>
          <a:noFill/>
          <a:ln/>
        </p:spPr>
        <p:txBody>
          <a:bodyPr wrap="square" lIns="0" tIns="0" rIns="0" bIns="0" rtlCol="0" anchor="t"/>
          <a:lstStyle/>
          <a:p>
            <a:pPr indent="0" marL="0">
              <a:buNone/>
            </a:pPr>
            <a:r>
              <a:rPr lang="en-US" sz="1400" dirty="0">
                <a:solidFill>
                  <a:schemeClr val="tx2"/>
                </a:solidFill>
              </a:rPr>
              <a:t>Budget, days and interests</a:t>
            </a:r>
            <a:endParaRPr lang="en-US" sz="1400" dirty="0"/>
          </a:p>
        </p:txBody>
      </p:sp>
      <p:sp>
        <p:nvSpPr>
          <p:cNvPr id="9" name="Step circle 2"/>
          <p:cNvSpPr/>
          <p:nvPr/>
        </p:nvSpPr>
        <p:spPr>
          <a:xfrm>
            <a:off x="457200" y="2240280"/>
            <a:ext cx="502920" cy="502920"/>
          </a:xfrm>
          <a:prstGeom prst="ellipse">
            <a:avLst/>
          </a:prstGeom>
          <a:solidFill>
            <a:schemeClr val="accent1"/>
          </a:solidFill>
          <a:ln w="12700">
            <a:solidFill>
              <a:schemeClr val="accent1"/>
            </a:solidFill>
            <a:prstDash val="solid"/>
          </a:ln>
        </p:spPr>
      </p:sp>
      <p:sp>
        <p:nvSpPr>
          <p:cNvPr id="10" name="Step number 2"/>
          <p:cNvSpPr txBox="1"/>
          <p:nvPr/>
        </p:nvSpPr>
        <p:spPr>
          <a:xfrm>
            <a:off x="457200" y="224028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1" name="Step arrow 2"/>
          <p:cNvSpPr/>
          <p:nvPr/>
        </p:nvSpPr>
        <p:spPr>
          <a:xfrm>
            <a:off x="594360" y="2770632"/>
            <a:ext cx="228600" cy="219456"/>
          </a:xfrm>
          <a:prstGeom prst="downArrow">
            <a:avLst/>
          </a:prstGeom>
          <a:solidFill>
            <a:schemeClr val="accent5"/>
          </a:solidFill>
          <a:ln w="12700">
            <a:solidFill>
              <a:schemeClr val="accent5"/>
            </a:solidFill>
            <a:prstDash val="solid"/>
          </a:ln>
        </p:spPr>
      </p:sp>
      <p:sp>
        <p:nvSpPr>
          <p:cNvPr id="12" name="Step title 2"/>
          <p:cNvSpPr txBox="1"/>
          <p:nvPr/>
        </p:nvSpPr>
        <p:spPr>
          <a:xfrm>
            <a:off x="1188720" y="2221992"/>
            <a:ext cx="3108960" cy="292608"/>
          </a:xfrm>
          <a:prstGeom prst="rect">
            <a:avLst/>
          </a:prstGeom>
          <a:noFill/>
          <a:ln/>
        </p:spPr>
        <p:txBody>
          <a:bodyPr wrap="square" lIns="0" tIns="0" rIns="0" bIns="0" rtlCol="0" anchor="t"/>
          <a:lstStyle/>
          <a:p>
            <a:pPr indent="0" marL="0">
              <a:buNone/>
            </a:pPr>
            <a:r>
              <a:rPr lang="en-US" sz="1800" b="1" dirty="0">
                <a:solidFill>
                  <a:schemeClr val="tx1"/>
                </a:solidFill>
              </a:rPr>
              <a:t>Destination suggestions</a:t>
            </a:r>
            <a:endParaRPr lang="en-US" sz="1800" dirty="0"/>
          </a:p>
        </p:txBody>
      </p:sp>
      <p:sp>
        <p:nvSpPr>
          <p:cNvPr id="13" name="Step text 2"/>
          <p:cNvSpPr txBox="1"/>
          <p:nvPr/>
        </p:nvSpPr>
        <p:spPr>
          <a:xfrm>
            <a:off x="1188720" y="2514600"/>
            <a:ext cx="3108960" cy="274320"/>
          </a:xfrm>
          <a:prstGeom prst="rect">
            <a:avLst/>
          </a:prstGeom>
          <a:noFill/>
          <a:ln/>
        </p:spPr>
        <p:txBody>
          <a:bodyPr wrap="square" lIns="0" tIns="0" rIns="0" bIns="0" rtlCol="0" anchor="t"/>
          <a:lstStyle/>
          <a:p>
            <a:pPr indent="0" marL="0">
              <a:buNone/>
            </a:pPr>
            <a:r>
              <a:rPr lang="en-US" sz="1400" dirty="0">
                <a:solidFill>
                  <a:schemeClr val="tx2"/>
                </a:solidFill>
              </a:rPr>
              <a:t>Matched to your interests</a:t>
            </a:r>
            <a:endParaRPr lang="en-US" sz="1400" dirty="0"/>
          </a:p>
        </p:txBody>
      </p:sp>
      <p:sp>
        <p:nvSpPr>
          <p:cNvPr id="14" name="Step circle 3"/>
          <p:cNvSpPr/>
          <p:nvPr/>
        </p:nvSpPr>
        <p:spPr>
          <a:xfrm>
            <a:off x="457200" y="3017520"/>
            <a:ext cx="502920" cy="502920"/>
          </a:xfrm>
          <a:prstGeom prst="ellipse">
            <a:avLst/>
          </a:prstGeom>
          <a:solidFill>
            <a:schemeClr val="accent1"/>
          </a:solidFill>
          <a:ln w="12700">
            <a:solidFill>
              <a:schemeClr val="accent1"/>
            </a:solidFill>
            <a:prstDash val="solid"/>
          </a:ln>
        </p:spPr>
      </p:sp>
      <p:sp>
        <p:nvSpPr>
          <p:cNvPr id="15" name="Step number 3"/>
          <p:cNvSpPr txBox="1"/>
          <p:nvPr/>
        </p:nvSpPr>
        <p:spPr>
          <a:xfrm>
            <a:off x="457200" y="301752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6" name="Step arrow 3"/>
          <p:cNvSpPr/>
          <p:nvPr/>
        </p:nvSpPr>
        <p:spPr>
          <a:xfrm>
            <a:off x="594360" y="3547872"/>
            <a:ext cx="228600" cy="219456"/>
          </a:xfrm>
          <a:prstGeom prst="downArrow">
            <a:avLst/>
          </a:prstGeom>
          <a:solidFill>
            <a:schemeClr val="accent5"/>
          </a:solidFill>
          <a:ln w="12700">
            <a:solidFill>
              <a:schemeClr val="accent5"/>
            </a:solidFill>
            <a:prstDash val="solid"/>
          </a:ln>
        </p:spPr>
      </p:sp>
      <p:sp>
        <p:nvSpPr>
          <p:cNvPr id="17" name="Step title 3"/>
          <p:cNvSpPr txBox="1"/>
          <p:nvPr/>
        </p:nvSpPr>
        <p:spPr>
          <a:xfrm>
            <a:off x="1188720" y="2999232"/>
            <a:ext cx="3108960" cy="292608"/>
          </a:xfrm>
          <a:prstGeom prst="rect">
            <a:avLst/>
          </a:prstGeom>
          <a:noFill/>
          <a:ln/>
        </p:spPr>
        <p:txBody>
          <a:bodyPr wrap="square" lIns="0" tIns="0" rIns="0" bIns="0" rtlCol="0" anchor="t"/>
          <a:lstStyle/>
          <a:p>
            <a:pPr indent="0" marL="0">
              <a:buNone/>
            </a:pPr>
            <a:r>
              <a:rPr lang="en-US" sz="1800" b="1" dirty="0">
                <a:solidFill>
                  <a:schemeClr val="tx1"/>
                </a:solidFill>
              </a:rPr>
              <a:t>Budget estimate</a:t>
            </a:r>
            <a:endParaRPr lang="en-US" sz="1800" dirty="0"/>
          </a:p>
        </p:txBody>
      </p:sp>
      <p:sp>
        <p:nvSpPr>
          <p:cNvPr id="18" name="Step text 3"/>
          <p:cNvSpPr txBox="1"/>
          <p:nvPr/>
        </p:nvSpPr>
        <p:spPr>
          <a:xfrm>
            <a:off x="1188720" y="3291840"/>
            <a:ext cx="3108960" cy="274320"/>
          </a:xfrm>
          <a:prstGeom prst="rect">
            <a:avLst/>
          </a:prstGeom>
          <a:noFill/>
          <a:ln/>
        </p:spPr>
        <p:txBody>
          <a:bodyPr wrap="square" lIns="0" tIns="0" rIns="0" bIns="0" rtlCol="0" anchor="t"/>
          <a:lstStyle/>
          <a:p>
            <a:pPr indent="0" marL="0">
              <a:buNone/>
            </a:pPr>
            <a:r>
              <a:rPr lang="en-US" sz="1400" dirty="0">
                <a:solidFill>
                  <a:schemeClr val="tx2"/>
                </a:solidFill>
              </a:rPr>
              <a:t>Split into cost categories</a:t>
            </a:r>
            <a:endParaRPr lang="en-US" sz="1400" dirty="0"/>
          </a:p>
        </p:txBody>
      </p:sp>
      <p:sp>
        <p:nvSpPr>
          <p:cNvPr id="19" name="Step circle 4"/>
          <p:cNvSpPr/>
          <p:nvPr/>
        </p:nvSpPr>
        <p:spPr>
          <a:xfrm>
            <a:off x="457200" y="3794760"/>
            <a:ext cx="502920" cy="502920"/>
          </a:xfrm>
          <a:prstGeom prst="ellipse">
            <a:avLst/>
          </a:prstGeom>
          <a:solidFill>
            <a:schemeClr val="accent1"/>
          </a:solidFill>
          <a:ln w="12700">
            <a:solidFill>
              <a:schemeClr val="accent1"/>
            </a:solidFill>
            <a:prstDash val="solid"/>
          </a:ln>
        </p:spPr>
      </p:sp>
      <p:sp>
        <p:nvSpPr>
          <p:cNvPr id="20" name="Step number 4"/>
          <p:cNvSpPr txBox="1"/>
          <p:nvPr/>
        </p:nvSpPr>
        <p:spPr>
          <a:xfrm>
            <a:off x="457200" y="379476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21" name="Step title 4"/>
          <p:cNvSpPr txBox="1"/>
          <p:nvPr/>
        </p:nvSpPr>
        <p:spPr>
          <a:xfrm>
            <a:off x="1188720" y="3776472"/>
            <a:ext cx="3108960" cy="292608"/>
          </a:xfrm>
          <a:prstGeom prst="rect">
            <a:avLst/>
          </a:prstGeom>
          <a:noFill/>
          <a:ln/>
        </p:spPr>
        <p:txBody>
          <a:bodyPr wrap="square" lIns="0" tIns="0" rIns="0" bIns="0" rtlCol="0" anchor="t"/>
          <a:lstStyle/>
          <a:p>
            <a:pPr indent="0" marL="0">
              <a:buNone/>
            </a:pPr>
            <a:r>
              <a:rPr lang="en-US" sz="1800" b="1" dirty="0">
                <a:solidFill>
                  <a:schemeClr val="tx1"/>
                </a:solidFill>
              </a:rPr>
              <a:t>Explore &amp; map link</a:t>
            </a:r>
            <a:endParaRPr lang="en-US" sz="1800" dirty="0"/>
          </a:p>
        </p:txBody>
      </p:sp>
      <p:sp>
        <p:nvSpPr>
          <p:cNvPr id="22" name="Step text 4"/>
          <p:cNvSpPr txBox="1"/>
          <p:nvPr/>
        </p:nvSpPr>
        <p:spPr>
          <a:xfrm>
            <a:off x="1188720" y="4069080"/>
            <a:ext cx="3108960" cy="274320"/>
          </a:xfrm>
          <a:prstGeom prst="rect">
            <a:avLst/>
          </a:prstGeom>
          <a:noFill/>
          <a:ln/>
        </p:spPr>
        <p:txBody>
          <a:bodyPr wrap="square" lIns="0" tIns="0" rIns="0" bIns="0" rtlCol="0" anchor="t"/>
          <a:lstStyle/>
          <a:p>
            <a:pPr indent="0" marL="0">
              <a:buNone/>
            </a:pPr>
            <a:r>
              <a:rPr lang="en-US" sz="1400" dirty="0">
                <a:solidFill>
                  <a:schemeClr val="tx2"/>
                </a:solidFill>
              </a:rPr>
              <a:t>Open places in Google Maps</a:t>
            </a:r>
            <a:endParaRPr lang="en-US" sz="1400" dirty="0"/>
          </a:p>
        </p:txBody>
      </p:sp>
      <p:sp>
        <p:nvSpPr>
          <p:cNvPr id="23" name="Screenshot panel"/>
          <p:cNvSpPr/>
          <p:nvPr/>
        </p:nvSpPr>
        <p:spPr>
          <a:xfrm>
            <a:off x="4572000" y="1463040"/>
            <a:ext cx="4114800" cy="3063240"/>
          </a:xfrm>
          <a:prstGeom prst="roundRect">
            <a:avLst>
              <a:gd name="adj" fmla="val 2985"/>
            </a:avLst>
          </a:prstGeom>
          <a:solidFill>
            <a:schemeClr val="bg2"/>
          </a:solidFill>
          <a:ln w="12700">
            <a:solidFill>
              <a:schemeClr val="bg2"/>
            </a:solidFill>
            <a:prstDash val="solid"/>
          </a:ln>
        </p:spPr>
      </p:sp>
      <p:pic>
        <p:nvPicPr>
          <p:cNvPr id="24" name="Screenshot home" descr="Screenshot of the NammaTrip AI home screen on a phone">    </p:cNvPr>
          <p:cNvPicPr>
            <a:picLocks noChangeAspect="1"/>
          </p:cNvPicPr>
          <p:nvPr/>
        </p:nvPicPr>
        <p:blipFill>
          <a:blip r:embed="rId1"/>
          <a:stretch>
            <a:fillRect/>
          </a:stretch>
        </p:blipFill>
        <p:spPr>
          <a:xfrm>
            <a:off x="5184648" y="1572768"/>
            <a:ext cx="1362456" cy="2514600"/>
          </a:xfrm>
          <a:prstGeom prst="rect">
            <a:avLst/>
          </a:prstGeom>
        </p:spPr>
      </p:pic>
      <p:pic>
        <p:nvPicPr>
          <p:cNvPr id="25" name="Screenshot route" descr="Screenshot of the route overview section in Kannada">    </p:cNvPr>
          <p:cNvPicPr>
            <a:picLocks noChangeAspect="1"/>
          </p:cNvPicPr>
          <p:nvPr/>
        </p:nvPicPr>
        <p:blipFill>
          <a:blip r:embed="rId2"/>
          <a:stretch>
            <a:fillRect/>
          </a:stretch>
        </p:blipFill>
        <p:spPr>
          <a:xfrm>
            <a:off x="6821424" y="1572768"/>
            <a:ext cx="1252728" cy="2514600"/>
          </a:xfrm>
          <a:prstGeom prst="rect">
            <a:avLst/>
          </a:prstGeom>
        </p:spPr>
      </p:pic>
      <p:sp>
        <p:nvSpPr>
          <p:cNvPr id="26" name="Caption home"/>
          <p:cNvSpPr txBox="1"/>
          <p:nvPr/>
        </p:nvSpPr>
        <p:spPr>
          <a:xfrm>
            <a:off x="4956048" y="4169664"/>
            <a:ext cx="1810512" cy="274320"/>
          </a:xfrm>
          <a:prstGeom prst="rect">
            <a:avLst/>
          </a:prstGeom>
          <a:noFill/>
          <a:ln/>
        </p:spPr>
        <p:txBody>
          <a:bodyPr wrap="square" lIns="0" tIns="0" rIns="0" bIns="0" rtlCol="0" anchor="t"/>
          <a:lstStyle/>
          <a:p>
            <a:pPr algn="ctr" indent="0" marL="0">
              <a:buNone/>
            </a:pPr>
            <a:r>
              <a:rPr lang="en-US" sz="1200" dirty="0">
                <a:solidFill>
                  <a:schemeClr val="tx2"/>
                </a:solidFill>
              </a:rPr>
              <a:t>Home screen</a:t>
            </a:r>
            <a:endParaRPr lang="en-US" sz="1200" dirty="0"/>
          </a:p>
        </p:txBody>
      </p:sp>
      <p:sp>
        <p:nvSpPr>
          <p:cNvPr id="27" name="Caption route"/>
          <p:cNvSpPr txBox="1"/>
          <p:nvPr/>
        </p:nvSpPr>
        <p:spPr>
          <a:xfrm>
            <a:off x="6583680" y="4169664"/>
            <a:ext cx="1737360" cy="274320"/>
          </a:xfrm>
          <a:prstGeom prst="rect">
            <a:avLst/>
          </a:prstGeom>
          <a:noFill/>
          <a:ln/>
        </p:spPr>
        <p:txBody>
          <a:bodyPr wrap="square" lIns="0" tIns="0" rIns="0" bIns="0" rtlCol="0" anchor="t"/>
          <a:lstStyle/>
          <a:p>
            <a:pPr algn="ctr" indent="0" marL="0">
              <a:buNone/>
            </a:pPr>
            <a:r>
              <a:rPr lang="en-US" sz="1200" dirty="0">
                <a:solidFill>
                  <a:schemeClr val="tx2"/>
                </a:solidFill>
              </a:rPr>
              <a:t>Route overview</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Features &amp; Differentiation</a:t>
            </a:r>
            <a:endParaRPr lang="en-US" sz="3400" dirty="0"/>
          </a:p>
        </p:txBody>
      </p:sp>
      <p:sp>
        <p:nvSpPr>
          <p:cNvPr id="3" name="Feature card 1"/>
          <p:cNvSpPr/>
          <p:nvPr/>
        </p:nvSpPr>
        <p:spPr>
          <a:xfrm>
            <a:off x="457200" y="1143000"/>
            <a:ext cx="2606040" cy="1371600"/>
          </a:xfrm>
          <a:prstGeom prst="roundRect">
            <a:avLst>
              <a:gd name="adj" fmla="val 8000"/>
            </a:avLst>
          </a:prstGeom>
          <a:solidFill>
            <a:schemeClr val="bg2"/>
          </a:solidFill>
          <a:ln w="12700">
            <a:solidFill>
              <a:schemeClr val="bg2"/>
            </a:solidFill>
            <a:prstDash val="solid"/>
          </a:ln>
        </p:spPr>
      </p:sp>
      <p:sp>
        <p:nvSpPr>
          <p:cNvPr id="4" name="Feature icon 1 circle"/>
          <p:cNvSpPr/>
          <p:nvPr/>
        </p:nvSpPr>
        <p:spPr>
          <a:xfrm>
            <a:off x="640080" y="1307592"/>
            <a:ext cx="457200" cy="457200"/>
          </a:xfrm>
          <a:prstGeom prst="ellipse">
            <a:avLst/>
          </a:prstGeom>
          <a:solidFill>
            <a:schemeClr val="tx1"/>
          </a:solidFill>
          <a:ln w="12700">
            <a:solidFill>
              <a:schemeClr val="tx1"/>
            </a:solidFill>
            <a:prstDash val="solid"/>
          </a:ln>
        </p:spPr>
      </p:sp>
      <p:pic>
        <p:nvPicPr>
          <p:cNvPr id="5" name="Feature icon 1" descr="Feature icon 1">    </p:cNvPr>
          <p:cNvPicPr>
            <a:picLocks noChangeAspect="1"/>
          </p:cNvPicPr>
          <p:nvPr/>
        </p:nvPicPr>
        <p:blipFill>
          <a:blip r:embed="rId1"/>
          <a:stretch>
            <a:fillRect/>
          </a:stretch>
        </p:blipFill>
        <p:spPr>
          <a:xfrm>
            <a:off x="758952" y="1426464"/>
            <a:ext cx="219456" cy="219456"/>
          </a:xfrm>
          <a:prstGeom prst="rect">
            <a:avLst/>
          </a:prstGeom>
        </p:spPr>
      </p:pic>
      <p:sp>
        <p:nvSpPr>
          <p:cNvPr id="6" name="Feature title 1"/>
          <p:cNvSpPr txBox="1"/>
          <p:nvPr/>
        </p:nvSpPr>
        <p:spPr>
          <a:xfrm>
            <a:off x="1234440" y="13075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Kannada + English</a:t>
            </a:r>
            <a:endParaRPr lang="en-US" sz="1600" dirty="0"/>
          </a:p>
        </p:txBody>
      </p:sp>
      <p:sp>
        <p:nvSpPr>
          <p:cNvPr id="7" name="Feature text 1"/>
          <p:cNvSpPr txBox="1"/>
          <p:nvPr/>
        </p:nvSpPr>
        <p:spPr>
          <a:xfrm>
            <a:off x="640080" y="1892808"/>
            <a:ext cx="2286000" cy="530352"/>
          </a:xfrm>
          <a:prstGeom prst="rect">
            <a:avLst/>
          </a:prstGeom>
          <a:noFill/>
          <a:ln/>
        </p:spPr>
        <p:txBody>
          <a:bodyPr wrap="square" lIns="0" tIns="0" rIns="0" bIns="0" rtlCol="0" anchor="t"/>
          <a:lstStyle/>
          <a:p>
            <a:pPr indent="0" marL="0">
              <a:buNone/>
            </a:pPr>
            <a:r>
              <a:rPr lang="en-US" sz="1400" dirty="0">
                <a:solidFill>
                  <a:schemeClr val="tx1"/>
                </a:solidFill>
              </a:rPr>
              <a:t>Switch the interface language</a:t>
            </a:r>
            <a:endParaRPr lang="en-US" sz="1400" dirty="0"/>
          </a:p>
        </p:txBody>
      </p:sp>
      <p:sp>
        <p:nvSpPr>
          <p:cNvPr id="8" name="Feature card 2"/>
          <p:cNvSpPr/>
          <p:nvPr/>
        </p:nvSpPr>
        <p:spPr>
          <a:xfrm>
            <a:off x="3268980" y="1143000"/>
            <a:ext cx="2606040" cy="1371600"/>
          </a:xfrm>
          <a:prstGeom prst="roundRect">
            <a:avLst>
              <a:gd name="adj" fmla="val 8000"/>
            </a:avLst>
          </a:prstGeom>
          <a:solidFill>
            <a:schemeClr val="bg2"/>
          </a:solidFill>
          <a:ln w="12700">
            <a:solidFill>
              <a:schemeClr val="bg2"/>
            </a:solidFill>
            <a:prstDash val="solid"/>
          </a:ln>
        </p:spPr>
      </p:sp>
      <p:sp>
        <p:nvSpPr>
          <p:cNvPr id="9" name="Feature icon 2 circle"/>
          <p:cNvSpPr/>
          <p:nvPr/>
        </p:nvSpPr>
        <p:spPr>
          <a:xfrm>
            <a:off x="3451860" y="1307592"/>
            <a:ext cx="457200" cy="457200"/>
          </a:xfrm>
          <a:prstGeom prst="ellipse">
            <a:avLst/>
          </a:prstGeom>
          <a:solidFill>
            <a:schemeClr val="tx1"/>
          </a:solidFill>
          <a:ln w="12700">
            <a:solidFill>
              <a:schemeClr val="tx1"/>
            </a:solidFill>
            <a:prstDash val="solid"/>
          </a:ln>
        </p:spPr>
      </p:sp>
      <p:pic>
        <p:nvPicPr>
          <p:cNvPr id="10" name="Feature icon 2" descr="Feature icon 2">    </p:cNvPr>
          <p:cNvPicPr>
            <a:picLocks noChangeAspect="1"/>
          </p:cNvPicPr>
          <p:nvPr/>
        </p:nvPicPr>
        <p:blipFill>
          <a:blip r:embed="rId2"/>
          <a:stretch>
            <a:fillRect/>
          </a:stretch>
        </p:blipFill>
        <p:spPr>
          <a:xfrm>
            <a:off x="3570732" y="1426464"/>
            <a:ext cx="219456" cy="219456"/>
          </a:xfrm>
          <a:prstGeom prst="rect">
            <a:avLst/>
          </a:prstGeom>
        </p:spPr>
      </p:pic>
      <p:sp>
        <p:nvSpPr>
          <p:cNvPr id="11" name="Feature title 2"/>
          <p:cNvSpPr txBox="1"/>
          <p:nvPr/>
        </p:nvSpPr>
        <p:spPr>
          <a:xfrm>
            <a:off x="4046220" y="13075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Trip preference form</a:t>
            </a:r>
            <a:endParaRPr lang="en-US" sz="1600" dirty="0"/>
          </a:p>
        </p:txBody>
      </p:sp>
      <p:sp>
        <p:nvSpPr>
          <p:cNvPr id="12" name="Feature text 2"/>
          <p:cNvSpPr txBox="1"/>
          <p:nvPr/>
        </p:nvSpPr>
        <p:spPr>
          <a:xfrm>
            <a:off x="3451860" y="1892808"/>
            <a:ext cx="2286000" cy="530352"/>
          </a:xfrm>
          <a:prstGeom prst="rect">
            <a:avLst/>
          </a:prstGeom>
          <a:noFill/>
          <a:ln/>
        </p:spPr>
        <p:txBody>
          <a:bodyPr wrap="square" lIns="0" tIns="0" rIns="0" bIns="0" rtlCol="0" anchor="t"/>
          <a:lstStyle/>
          <a:p>
            <a:pPr indent="0" marL="0">
              <a:buNone/>
            </a:pPr>
            <a:r>
              <a:rPr lang="en-US" sz="1400" dirty="0">
                <a:solidFill>
                  <a:schemeClr val="tx1"/>
                </a:solidFill>
              </a:rPr>
              <a:t>City, days, budget, interests</a:t>
            </a:r>
            <a:endParaRPr lang="en-US" sz="1400" dirty="0"/>
          </a:p>
        </p:txBody>
      </p:sp>
      <p:sp>
        <p:nvSpPr>
          <p:cNvPr id="13" name="Feature card 3"/>
          <p:cNvSpPr/>
          <p:nvPr/>
        </p:nvSpPr>
        <p:spPr>
          <a:xfrm>
            <a:off x="6080760" y="1143000"/>
            <a:ext cx="2606040" cy="1371600"/>
          </a:xfrm>
          <a:prstGeom prst="roundRect">
            <a:avLst>
              <a:gd name="adj" fmla="val 8000"/>
            </a:avLst>
          </a:prstGeom>
          <a:solidFill>
            <a:schemeClr val="bg2"/>
          </a:solidFill>
          <a:ln w="12700">
            <a:solidFill>
              <a:schemeClr val="bg2"/>
            </a:solidFill>
            <a:prstDash val="solid"/>
          </a:ln>
        </p:spPr>
      </p:sp>
      <p:sp>
        <p:nvSpPr>
          <p:cNvPr id="14" name="Feature icon 3 circle"/>
          <p:cNvSpPr/>
          <p:nvPr/>
        </p:nvSpPr>
        <p:spPr>
          <a:xfrm>
            <a:off x="6263640" y="1307592"/>
            <a:ext cx="457200" cy="457200"/>
          </a:xfrm>
          <a:prstGeom prst="ellipse">
            <a:avLst/>
          </a:prstGeom>
          <a:solidFill>
            <a:schemeClr val="tx1"/>
          </a:solidFill>
          <a:ln w="12700">
            <a:solidFill>
              <a:schemeClr val="tx1"/>
            </a:solidFill>
            <a:prstDash val="solid"/>
          </a:ln>
        </p:spPr>
      </p:sp>
      <p:pic>
        <p:nvPicPr>
          <p:cNvPr id="15" name="Feature icon 3" descr="Feature icon 3">    </p:cNvPr>
          <p:cNvPicPr>
            <a:picLocks noChangeAspect="1"/>
          </p:cNvPicPr>
          <p:nvPr/>
        </p:nvPicPr>
        <p:blipFill>
          <a:blip r:embed="rId3"/>
          <a:stretch>
            <a:fillRect/>
          </a:stretch>
        </p:blipFill>
        <p:spPr>
          <a:xfrm>
            <a:off x="6382512" y="1426464"/>
            <a:ext cx="219456" cy="219456"/>
          </a:xfrm>
          <a:prstGeom prst="rect">
            <a:avLst/>
          </a:prstGeom>
        </p:spPr>
      </p:pic>
      <p:sp>
        <p:nvSpPr>
          <p:cNvPr id="16" name="Feature title 3"/>
          <p:cNvSpPr txBox="1"/>
          <p:nvPr/>
        </p:nvSpPr>
        <p:spPr>
          <a:xfrm>
            <a:off x="6858000" y="130759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13 destinations</a:t>
            </a:r>
            <a:endParaRPr lang="en-US" sz="1600" dirty="0"/>
          </a:p>
        </p:txBody>
      </p:sp>
      <p:sp>
        <p:nvSpPr>
          <p:cNvPr id="17" name="Feature text 3"/>
          <p:cNvSpPr txBox="1"/>
          <p:nvPr/>
        </p:nvSpPr>
        <p:spPr>
          <a:xfrm>
            <a:off x="6263640" y="1892808"/>
            <a:ext cx="2286000" cy="530352"/>
          </a:xfrm>
          <a:prstGeom prst="rect">
            <a:avLst/>
          </a:prstGeom>
          <a:noFill/>
          <a:ln/>
        </p:spPr>
        <p:txBody>
          <a:bodyPr wrap="square" lIns="0" tIns="0" rIns="0" bIns="0" rtlCol="0" anchor="t"/>
          <a:lstStyle/>
          <a:p>
            <a:pPr indent="0" marL="0">
              <a:buNone/>
            </a:pPr>
            <a:r>
              <a:rPr lang="en-US" sz="1400" dirty="0">
                <a:solidFill>
                  <a:schemeClr val="tx1"/>
                </a:solidFill>
              </a:rPr>
              <a:t>Browse and filter curated places</a:t>
            </a:r>
            <a:endParaRPr lang="en-US" sz="1400" dirty="0"/>
          </a:p>
        </p:txBody>
      </p:sp>
      <p:sp>
        <p:nvSpPr>
          <p:cNvPr id="18" name="Feature card 4"/>
          <p:cNvSpPr/>
          <p:nvPr/>
        </p:nvSpPr>
        <p:spPr>
          <a:xfrm>
            <a:off x="457200" y="2697480"/>
            <a:ext cx="2606040" cy="1371600"/>
          </a:xfrm>
          <a:prstGeom prst="roundRect">
            <a:avLst>
              <a:gd name="adj" fmla="val 8000"/>
            </a:avLst>
          </a:prstGeom>
          <a:solidFill>
            <a:schemeClr val="bg2"/>
          </a:solidFill>
          <a:ln w="12700">
            <a:solidFill>
              <a:schemeClr val="bg2"/>
            </a:solidFill>
            <a:prstDash val="solid"/>
          </a:ln>
        </p:spPr>
      </p:sp>
      <p:sp>
        <p:nvSpPr>
          <p:cNvPr id="19" name="Feature icon 4 circle"/>
          <p:cNvSpPr/>
          <p:nvPr/>
        </p:nvSpPr>
        <p:spPr>
          <a:xfrm>
            <a:off x="640080" y="2862072"/>
            <a:ext cx="457200" cy="457200"/>
          </a:xfrm>
          <a:prstGeom prst="ellipse">
            <a:avLst/>
          </a:prstGeom>
          <a:solidFill>
            <a:schemeClr val="tx1"/>
          </a:solidFill>
          <a:ln w="12700">
            <a:solidFill>
              <a:schemeClr val="tx1"/>
            </a:solidFill>
            <a:prstDash val="solid"/>
          </a:ln>
        </p:spPr>
      </p:sp>
      <p:pic>
        <p:nvPicPr>
          <p:cNvPr id="20" name="Feature icon 4" descr="Feature icon 4">    </p:cNvPr>
          <p:cNvPicPr>
            <a:picLocks noChangeAspect="1"/>
          </p:cNvPicPr>
          <p:nvPr/>
        </p:nvPicPr>
        <p:blipFill>
          <a:blip r:embed="rId4"/>
          <a:stretch>
            <a:fillRect/>
          </a:stretch>
        </p:blipFill>
        <p:spPr>
          <a:xfrm>
            <a:off x="758952" y="2980944"/>
            <a:ext cx="219456" cy="219456"/>
          </a:xfrm>
          <a:prstGeom prst="rect">
            <a:avLst/>
          </a:prstGeom>
        </p:spPr>
      </p:pic>
      <p:sp>
        <p:nvSpPr>
          <p:cNvPr id="21" name="Feature title 4"/>
          <p:cNvSpPr txBox="1"/>
          <p:nvPr/>
        </p:nvSpPr>
        <p:spPr>
          <a:xfrm>
            <a:off x="1234440" y="2862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Day-by-day plan</a:t>
            </a:r>
            <a:endParaRPr lang="en-US" sz="1600" dirty="0"/>
          </a:p>
        </p:txBody>
      </p:sp>
      <p:sp>
        <p:nvSpPr>
          <p:cNvPr id="22" name="Feature text 4"/>
          <p:cNvSpPr txBox="1"/>
          <p:nvPr/>
        </p:nvSpPr>
        <p:spPr>
          <a:xfrm>
            <a:off x="640080" y="3447288"/>
            <a:ext cx="2286000" cy="530352"/>
          </a:xfrm>
          <a:prstGeom prst="rect">
            <a:avLst/>
          </a:prstGeom>
          <a:noFill/>
          <a:ln/>
        </p:spPr>
        <p:txBody>
          <a:bodyPr wrap="square" lIns="0" tIns="0" rIns="0" bIns="0" rtlCol="0" anchor="t"/>
          <a:lstStyle/>
          <a:p>
            <a:pPr indent="0" marL="0">
              <a:buNone/>
            </a:pPr>
            <a:r>
              <a:rPr lang="en-US" sz="1400" dirty="0">
                <a:solidFill>
                  <a:schemeClr val="tx1"/>
                </a:solidFill>
              </a:rPr>
              <a:t>Suggested activities for each day</a:t>
            </a:r>
            <a:endParaRPr lang="en-US" sz="1400" dirty="0"/>
          </a:p>
        </p:txBody>
      </p:sp>
      <p:sp>
        <p:nvSpPr>
          <p:cNvPr id="23" name="Feature card 5"/>
          <p:cNvSpPr/>
          <p:nvPr/>
        </p:nvSpPr>
        <p:spPr>
          <a:xfrm>
            <a:off x="3268980" y="2697480"/>
            <a:ext cx="2606040" cy="1371600"/>
          </a:xfrm>
          <a:prstGeom prst="roundRect">
            <a:avLst>
              <a:gd name="adj" fmla="val 8000"/>
            </a:avLst>
          </a:prstGeom>
          <a:solidFill>
            <a:schemeClr val="bg2"/>
          </a:solidFill>
          <a:ln w="12700">
            <a:solidFill>
              <a:schemeClr val="bg2"/>
            </a:solidFill>
            <a:prstDash val="solid"/>
          </a:ln>
        </p:spPr>
      </p:sp>
      <p:sp>
        <p:nvSpPr>
          <p:cNvPr id="24" name="Feature icon 5 circle"/>
          <p:cNvSpPr/>
          <p:nvPr/>
        </p:nvSpPr>
        <p:spPr>
          <a:xfrm>
            <a:off x="3451860" y="2862072"/>
            <a:ext cx="457200" cy="457200"/>
          </a:xfrm>
          <a:prstGeom prst="ellipse">
            <a:avLst/>
          </a:prstGeom>
          <a:solidFill>
            <a:schemeClr val="tx1"/>
          </a:solidFill>
          <a:ln w="12700">
            <a:solidFill>
              <a:schemeClr val="tx1"/>
            </a:solidFill>
            <a:prstDash val="solid"/>
          </a:ln>
        </p:spPr>
      </p:sp>
      <p:pic>
        <p:nvPicPr>
          <p:cNvPr id="25" name="Feature icon 5" descr="Feature icon 5">    </p:cNvPr>
          <p:cNvPicPr>
            <a:picLocks noChangeAspect="1"/>
          </p:cNvPicPr>
          <p:nvPr/>
        </p:nvPicPr>
        <p:blipFill>
          <a:blip r:embed="rId5"/>
          <a:stretch>
            <a:fillRect/>
          </a:stretch>
        </p:blipFill>
        <p:spPr>
          <a:xfrm>
            <a:off x="3570732" y="2980944"/>
            <a:ext cx="219456" cy="219456"/>
          </a:xfrm>
          <a:prstGeom prst="rect">
            <a:avLst/>
          </a:prstGeom>
        </p:spPr>
      </p:pic>
      <p:sp>
        <p:nvSpPr>
          <p:cNvPr id="26" name="Feature title 5"/>
          <p:cNvSpPr txBox="1"/>
          <p:nvPr/>
        </p:nvSpPr>
        <p:spPr>
          <a:xfrm>
            <a:off x="4046220" y="2862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Budget estimates</a:t>
            </a:r>
            <a:endParaRPr lang="en-US" sz="1600" dirty="0"/>
          </a:p>
        </p:txBody>
      </p:sp>
      <p:sp>
        <p:nvSpPr>
          <p:cNvPr id="27" name="Feature text 5"/>
          <p:cNvSpPr txBox="1"/>
          <p:nvPr/>
        </p:nvSpPr>
        <p:spPr>
          <a:xfrm>
            <a:off x="3451860" y="3447288"/>
            <a:ext cx="2286000" cy="530352"/>
          </a:xfrm>
          <a:prstGeom prst="rect">
            <a:avLst/>
          </a:prstGeom>
          <a:noFill/>
          <a:ln/>
        </p:spPr>
        <p:txBody>
          <a:bodyPr wrap="square" lIns="0" tIns="0" rIns="0" bIns="0" rtlCol="0" anchor="t"/>
          <a:lstStyle/>
          <a:p>
            <a:pPr indent="0" marL="0">
              <a:buNone/>
            </a:pPr>
            <a:r>
              <a:rPr lang="en-US" sz="1400" dirty="0">
                <a:solidFill>
                  <a:schemeClr val="tx1"/>
                </a:solidFill>
              </a:rPr>
              <a:t>Rule-based split, not live prices</a:t>
            </a:r>
            <a:endParaRPr lang="en-US" sz="1400" dirty="0"/>
          </a:p>
        </p:txBody>
      </p:sp>
      <p:sp>
        <p:nvSpPr>
          <p:cNvPr id="28" name="Feature card 6"/>
          <p:cNvSpPr/>
          <p:nvPr/>
        </p:nvSpPr>
        <p:spPr>
          <a:xfrm>
            <a:off x="6080760" y="2697480"/>
            <a:ext cx="2606040" cy="1371600"/>
          </a:xfrm>
          <a:prstGeom prst="roundRect">
            <a:avLst>
              <a:gd name="adj" fmla="val 8000"/>
            </a:avLst>
          </a:prstGeom>
          <a:solidFill>
            <a:schemeClr val="bg2"/>
          </a:solidFill>
          <a:ln w="12700">
            <a:solidFill>
              <a:schemeClr val="bg2"/>
            </a:solidFill>
            <a:prstDash val="solid"/>
          </a:ln>
        </p:spPr>
      </p:sp>
      <p:sp>
        <p:nvSpPr>
          <p:cNvPr id="29" name="Feature icon 6 circle"/>
          <p:cNvSpPr/>
          <p:nvPr/>
        </p:nvSpPr>
        <p:spPr>
          <a:xfrm>
            <a:off x="6263640" y="2862072"/>
            <a:ext cx="457200" cy="457200"/>
          </a:xfrm>
          <a:prstGeom prst="ellipse">
            <a:avLst/>
          </a:prstGeom>
          <a:solidFill>
            <a:schemeClr val="tx1"/>
          </a:solidFill>
          <a:ln w="12700">
            <a:solidFill>
              <a:schemeClr val="tx1"/>
            </a:solidFill>
            <a:prstDash val="solid"/>
          </a:ln>
        </p:spPr>
      </p:sp>
      <p:pic>
        <p:nvPicPr>
          <p:cNvPr id="30" name="Feature icon 6" descr="Feature icon 6">    </p:cNvPr>
          <p:cNvPicPr>
            <a:picLocks noChangeAspect="1"/>
          </p:cNvPicPr>
          <p:nvPr/>
        </p:nvPicPr>
        <p:blipFill>
          <a:blip r:embed="rId6"/>
          <a:stretch>
            <a:fillRect/>
          </a:stretch>
        </p:blipFill>
        <p:spPr>
          <a:xfrm>
            <a:off x="6382512" y="2980944"/>
            <a:ext cx="219456" cy="219456"/>
          </a:xfrm>
          <a:prstGeom prst="rect">
            <a:avLst/>
          </a:prstGeom>
        </p:spPr>
      </p:pic>
      <p:sp>
        <p:nvSpPr>
          <p:cNvPr id="31" name="Feature title 6"/>
          <p:cNvSpPr txBox="1"/>
          <p:nvPr/>
        </p:nvSpPr>
        <p:spPr>
          <a:xfrm>
            <a:off x="6858000" y="2862072"/>
            <a:ext cx="1737360" cy="457200"/>
          </a:xfrm>
          <a:prstGeom prst="rect">
            <a:avLst/>
          </a:prstGeom>
          <a:noFill/>
          <a:ln/>
        </p:spPr>
        <p:txBody>
          <a:bodyPr wrap="square" lIns="0" tIns="0" rIns="0" bIns="0" rtlCol="0" anchor="ctr"/>
          <a:lstStyle/>
          <a:p>
            <a:pPr indent="0" marL="0">
              <a:buNone/>
            </a:pPr>
            <a:r>
              <a:rPr lang="en-US" sz="1600" b="1" dirty="0">
                <a:solidFill>
                  <a:schemeClr val="tx1"/>
                </a:solidFill>
              </a:rPr>
              <a:t>Culture corner</a:t>
            </a:r>
            <a:endParaRPr lang="en-US" sz="1600" dirty="0"/>
          </a:p>
        </p:txBody>
      </p:sp>
      <p:sp>
        <p:nvSpPr>
          <p:cNvPr id="32" name="Feature text 6"/>
          <p:cNvSpPr txBox="1"/>
          <p:nvPr/>
        </p:nvSpPr>
        <p:spPr>
          <a:xfrm>
            <a:off x="6263640" y="3447288"/>
            <a:ext cx="2286000" cy="530352"/>
          </a:xfrm>
          <a:prstGeom prst="rect">
            <a:avLst/>
          </a:prstGeom>
          <a:noFill/>
          <a:ln/>
        </p:spPr>
        <p:txBody>
          <a:bodyPr wrap="square" lIns="0" tIns="0" rIns="0" bIns="0" rtlCol="0" anchor="t"/>
          <a:lstStyle/>
          <a:p>
            <a:pPr indent="0" marL="0">
              <a:buNone/>
            </a:pPr>
            <a:r>
              <a:rPr lang="en-US" sz="1400" dirty="0">
                <a:solidFill>
                  <a:schemeClr val="tx1"/>
                </a:solidFill>
              </a:rPr>
              <a:t>Food, history and Kannada phrases</a:t>
            </a:r>
            <a:endParaRPr lang="en-US" sz="1400" dirty="0"/>
          </a:p>
        </p:txBody>
      </p:sp>
      <p:sp>
        <p:nvSpPr>
          <p:cNvPr id="33" name="Focus strip"/>
          <p:cNvSpPr/>
          <p:nvPr/>
        </p:nvSpPr>
        <p:spPr>
          <a:xfrm>
            <a:off x="457200" y="4297680"/>
            <a:ext cx="822960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tx1"/>
                </a:solidFill>
              </a:rPr>
              <a:t>Karnataka focus  •  Kannada-first  •  Beginner-friendly  •  Map links  •  Responsive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Approach &amp; Methodology</a:t>
            </a:r>
            <a:endParaRPr lang="en-US" sz="3400" dirty="0"/>
          </a:p>
        </p:txBody>
      </p:sp>
      <p:sp>
        <p:nvSpPr>
          <p:cNvPr id="3" name="Method card 1"/>
          <p:cNvSpPr/>
          <p:nvPr/>
        </p:nvSpPr>
        <p:spPr>
          <a:xfrm>
            <a:off x="457200" y="1188720"/>
            <a:ext cx="2331720" cy="1481328"/>
          </a:xfrm>
          <a:prstGeom prst="roundRect">
            <a:avLst>
              <a:gd name="adj" fmla="val 7407"/>
            </a:avLst>
          </a:prstGeom>
          <a:solidFill>
            <a:schemeClr val="bg2"/>
          </a:solidFill>
          <a:ln w="12700">
            <a:solidFill>
              <a:schemeClr val="bg2"/>
            </a:solidFill>
            <a:prstDash val="solid"/>
          </a:ln>
        </p:spPr>
      </p:sp>
      <p:sp>
        <p:nvSpPr>
          <p:cNvPr id="4" name="Method circle 1"/>
          <p:cNvSpPr/>
          <p:nvPr/>
        </p:nvSpPr>
        <p:spPr>
          <a:xfrm>
            <a:off x="621792" y="1325880"/>
            <a:ext cx="411480" cy="411480"/>
          </a:xfrm>
          <a:prstGeom prst="ellipse">
            <a:avLst/>
          </a:prstGeom>
          <a:solidFill>
            <a:schemeClr val="accent1"/>
          </a:solidFill>
          <a:ln w="12700">
            <a:solidFill>
              <a:schemeClr val="accent1"/>
            </a:solidFill>
            <a:prstDash val="solid"/>
          </a:ln>
        </p:spPr>
      </p:sp>
      <p:sp>
        <p:nvSpPr>
          <p:cNvPr id="5" name="Method number 1"/>
          <p:cNvSpPr txBox="1"/>
          <p:nvPr/>
        </p:nvSpPr>
        <p:spPr>
          <a:xfrm>
            <a:off x="621792" y="132588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1</a:t>
            </a:r>
            <a:endParaRPr lang="en-US" sz="1700" dirty="0"/>
          </a:p>
        </p:txBody>
      </p:sp>
      <p:pic>
        <p:nvPicPr>
          <p:cNvPr id="6" name="Method icon 1" descr="Identify the need icon">    </p:cNvPr>
          <p:cNvPicPr>
            <a:picLocks noChangeAspect="1"/>
          </p:cNvPicPr>
          <p:nvPr/>
        </p:nvPicPr>
        <p:blipFill>
          <a:blip r:embed="rId1"/>
          <a:stretch>
            <a:fillRect/>
          </a:stretch>
        </p:blipFill>
        <p:spPr>
          <a:xfrm>
            <a:off x="2194560" y="1344168"/>
            <a:ext cx="384048" cy="384048"/>
          </a:xfrm>
          <a:prstGeom prst="rect">
            <a:avLst/>
          </a:prstGeom>
        </p:spPr>
      </p:pic>
      <p:sp>
        <p:nvSpPr>
          <p:cNvPr id="7" name="Method title 1"/>
          <p:cNvSpPr txBox="1"/>
          <p:nvPr/>
        </p:nvSpPr>
        <p:spPr>
          <a:xfrm>
            <a:off x="621792" y="1828800"/>
            <a:ext cx="2057400" cy="292608"/>
          </a:xfrm>
          <a:prstGeom prst="rect">
            <a:avLst/>
          </a:prstGeom>
          <a:noFill/>
          <a:ln/>
        </p:spPr>
        <p:txBody>
          <a:bodyPr wrap="square" lIns="0" tIns="0" rIns="0" bIns="0" rtlCol="0" anchor="t"/>
          <a:lstStyle/>
          <a:p>
            <a:pPr indent="0" marL="0">
              <a:buNone/>
            </a:pPr>
            <a:r>
              <a:rPr lang="en-US" sz="1600" b="1" dirty="0">
                <a:solidFill>
                  <a:schemeClr val="tx1"/>
                </a:solidFill>
              </a:rPr>
              <a:t>Identify the need</a:t>
            </a:r>
            <a:endParaRPr lang="en-US" sz="1600" dirty="0"/>
          </a:p>
        </p:txBody>
      </p:sp>
      <p:sp>
        <p:nvSpPr>
          <p:cNvPr id="8" name="Method text 1"/>
          <p:cNvSpPr txBox="1"/>
          <p:nvPr/>
        </p:nvSpPr>
        <p:spPr>
          <a:xfrm>
            <a:off x="621792" y="2130552"/>
            <a:ext cx="2057400" cy="475488"/>
          </a:xfrm>
          <a:prstGeom prst="rect">
            <a:avLst/>
          </a:prstGeom>
          <a:noFill/>
          <a:ln/>
        </p:spPr>
        <p:txBody>
          <a:bodyPr wrap="square" lIns="0" tIns="0" rIns="0" bIns="0" rtlCol="0" anchor="t"/>
          <a:lstStyle/>
          <a:p>
            <a:pPr indent="0" marL="0">
              <a:buNone/>
            </a:pPr>
            <a:r>
              <a:rPr lang="en-US" sz="1400" dirty="0">
                <a:solidFill>
                  <a:schemeClr val="tx2"/>
                </a:solidFill>
              </a:rPr>
              <a:t>Karnataka trip planning in Kannada</a:t>
            </a:r>
            <a:endParaRPr lang="en-US" sz="1400" dirty="0"/>
          </a:p>
        </p:txBody>
      </p:sp>
      <p:sp>
        <p:nvSpPr>
          <p:cNvPr id="9" name="Method card 2"/>
          <p:cNvSpPr/>
          <p:nvPr/>
        </p:nvSpPr>
        <p:spPr>
          <a:xfrm>
            <a:off x="3406140" y="1188720"/>
            <a:ext cx="2331720" cy="1481328"/>
          </a:xfrm>
          <a:prstGeom prst="roundRect">
            <a:avLst>
              <a:gd name="adj" fmla="val 7407"/>
            </a:avLst>
          </a:prstGeom>
          <a:solidFill>
            <a:schemeClr val="bg2"/>
          </a:solidFill>
          <a:ln w="12700">
            <a:solidFill>
              <a:schemeClr val="bg2"/>
            </a:solidFill>
            <a:prstDash val="solid"/>
          </a:ln>
        </p:spPr>
      </p:sp>
      <p:sp>
        <p:nvSpPr>
          <p:cNvPr id="10" name="Method circle 2"/>
          <p:cNvSpPr/>
          <p:nvPr/>
        </p:nvSpPr>
        <p:spPr>
          <a:xfrm>
            <a:off x="3570732" y="1325880"/>
            <a:ext cx="411480" cy="411480"/>
          </a:xfrm>
          <a:prstGeom prst="ellipse">
            <a:avLst/>
          </a:prstGeom>
          <a:solidFill>
            <a:schemeClr val="accent1"/>
          </a:solidFill>
          <a:ln w="12700">
            <a:solidFill>
              <a:schemeClr val="accent1"/>
            </a:solidFill>
            <a:prstDash val="solid"/>
          </a:ln>
        </p:spPr>
      </p:sp>
      <p:sp>
        <p:nvSpPr>
          <p:cNvPr id="11" name="Method number 2"/>
          <p:cNvSpPr txBox="1"/>
          <p:nvPr/>
        </p:nvSpPr>
        <p:spPr>
          <a:xfrm>
            <a:off x="3570732" y="132588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2</a:t>
            </a:r>
            <a:endParaRPr lang="en-US" sz="1700" dirty="0"/>
          </a:p>
        </p:txBody>
      </p:sp>
      <p:pic>
        <p:nvPicPr>
          <p:cNvPr id="12" name="Method icon 2" descr="Plan UI &amp; flow icon">    </p:cNvPr>
          <p:cNvPicPr>
            <a:picLocks noChangeAspect="1"/>
          </p:cNvPicPr>
          <p:nvPr/>
        </p:nvPicPr>
        <p:blipFill>
          <a:blip r:embed="rId2"/>
          <a:stretch>
            <a:fillRect/>
          </a:stretch>
        </p:blipFill>
        <p:spPr>
          <a:xfrm>
            <a:off x="5143500" y="1344168"/>
            <a:ext cx="384048" cy="384048"/>
          </a:xfrm>
          <a:prstGeom prst="rect">
            <a:avLst/>
          </a:prstGeom>
        </p:spPr>
      </p:pic>
      <p:sp>
        <p:nvSpPr>
          <p:cNvPr id="13" name="Method title 2"/>
          <p:cNvSpPr txBox="1"/>
          <p:nvPr/>
        </p:nvSpPr>
        <p:spPr>
          <a:xfrm>
            <a:off x="3570732" y="1828800"/>
            <a:ext cx="2057400" cy="292608"/>
          </a:xfrm>
          <a:prstGeom prst="rect">
            <a:avLst/>
          </a:prstGeom>
          <a:noFill/>
          <a:ln/>
        </p:spPr>
        <p:txBody>
          <a:bodyPr wrap="square" lIns="0" tIns="0" rIns="0" bIns="0" rtlCol="0" anchor="t"/>
          <a:lstStyle/>
          <a:p>
            <a:pPr indent="0" marL="0">
              <a:buNone/>
            </a:pPr>
            <a:r>
              <a:rPr lang="en-US" sz="1600" b="1" dirty="0">
                <a:solidFill>
                  <a:schemeClr val="tx1"/>
                </a:solidFill>
              </a:rPr>
              <a:t>Plan UI &amp; flow</a:t>
            </a:r>
            <a:endParaRPr lang="en-US" sz="1600" dirty="0"/>
          </a:p>
        </p:txBody>
      </p:sp>
      <p:sp>
        <p:nvSpPr>
          <p:cNvPr id="14" name="Method text 2"/>
          <p:cNvSpPr txBox="1"/>
          <p:nvPr/>
        </p:nvSpPr>
        <p:spPr>
          <a:xfrm>
            <a:off x="3570732" y="2130552"/>
            <a:ext cx="2057400" cy="475488"/>
          </a:xfrm>
          <a:prstGeom prst="rect">
            <a:avLst/>
          </a:prstGeom>
          <a:noFill/>
          <a:ln/>
        </p:spPr>
        <p:txBody>
          <a:bodyPr wrap="square" lIns="0" tIns="0" rIns="0" bIns="0" rtlCol="0" anchor="t"/>
          <a:lstStyle/>
          <a:p>
            <a:pPr indent="0" marL="0">
              <a:buNone/>
            </a:pPr>
            <a:r>
              <a:rPr lang="en-US" sz="1400" dirty="0">
                <a:solidFill>
                  <a:schemeClr val="tx2"/>
                </a:solidFill>
              </a:rPr>
              <a:t>Design the form and results</a:t>
            </a:r>
            <a:endParaRPr lang="en-US" sz="1400" dirty="0"/>
          </a:p>
        </p:txBody>
      </p:sp>
      <p:sp>
        <p:nvSpPr>
          <p:cNvPr id="15" name="Method card 3"/>
          <p:cNvSpPr/>
          <p:nvPr/>
        </p:nvSpPr>
        <p:spPr>
          <a:xfrm>
            <a:off x="6355080" y="1188720"/>
            <a:ext cx="2331720" cy="1481328"/>
          </a:xfrm>
          <a:prstGeom prst="roundRect">
            <a:avLst>
              <a:gd name="adj" fmla="val 7407"/>
            </a:avLst>
          </a:prstGeom>
          <a:solidFill>
            <a:schemeClr val="bg2"/>
          </a:solidFill>
          <a:ln w="12700">
            <a:solidFill>
              <a:schemeClr val="bg2"/>
            </a:solidFill>
            <a:prstDash val="solid"/>
          </a:ln>
        </p:spPr>
      </p:sp>
      <p:sp>
        <p:nvSpPr>
          <p:cNvPr id="16" name="Method circle 3"/>
          <p:cNvSpPr/>
          <p:nvPr/>
        </p:nvSpPr>
        <p:spPr>
          <a:xfrm>
            <a:off x="6519672" y="1325880"/>
            <a:ext cx="411480" cy="411480"/>
          </a:xfrm>
          <a:prstGeom prst="ellipse">
            <a:avLst/>
          </a:prstGeom>
          <a:solidFill>
            <a:schemeClr val="accent1"/>
          </a:solidFill>
          <a:ln w="12700">
            <a:solidFill>
              <a:schemeClr val="accent1"/>
            </a:solidFill>
            <a:prstDash val="solid"/>
          </a:ln>
        </p:spPr>
      </p:sp>
      <p:sp>
        <p:nvSpPr>
          <p:cNvPr id="17" name="Method number 3"/>
          <p:cNvSpPr txBox="1"/>
          <p:nvPr/>
        </p:nvSpPr>
        <p:spPr>
          <a:xfrm>
            <a:off x="6519672" y="132588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3</a:t>
            </a:r>
            <a:endParaRPr lang="en-US" sz="1700" dirty="0"/>
          </a:p>
        </p:txBody>
      </p:sp>
      <p:pic>
        <p:nvPicPr>
          <p:cNvPr id="18" name="Method icon 3" descr="Build with HTML icon">    </p:cNvPr>
          <p:cNvPicPr>
            <a:picLocks noChangeAspect="1"/>
          </p:cNvPicPr>
          <p:nvPr/>
        </p:nvPicPr>
        <p:blipFill>
          <a:blip r:embed="rId3"/>
          <a:stretch>
            <a:fillRect/>
          </a:stretch>
        </p:blipFill>
        <p:spPr>
          <a:xfrm>
            <a:off x="8092440" y="1344168"/>
            <a:ext cx="384048" cy="384048"/>
          </a:xfrm>
          <a:prstGeom prst="rect">
            <a:avLst/>
          </a:prstGeom>
        </p:spPr>
      </p:pic>
      <p:sp>
        <p:nvSpPr>
          <p:cNvPr id="19" name="Method title 3"/>
          <p:cNvSpPr txBox="1"/>
          <p:nvPr/>
        </p:nvSpPr>
        <p:spPr>
          <a:xfrm>
            <a:off x="6519672" y="1828800"/>
            <a:ext cx="2057400" cy="292608"/>
          </a:xfrm>
          <a:prstGeom prst="rect">
            <a:avLst/>
          </a:prstGeom>
          <a:noFill/>
          <a:ln/>
        </p:spPr>
        <p:txBody>
          <a:bodyPr wrap="square" lIns="0" tIns="0" rIns="0" bIns="0" rtlCol="0" anchor="t"/>
          <a:lstStyle/>
          <a:p>
            <a:pPr indent="0" marL="0">
              <a:buNone/>
            </a:pPr>
            <a:r>
              <a:rPr lang="en-US" sz="1600" b="1" dirty="0">
                <a:solidFill>
                  <a:schemeClr val="tx1"/>
                </a:solidFill>
              </a:rPr>
              <a:t>Build with HTML</a:t>
            </a:r>
            <a:endParaRPr lang="en-US" sz="1600" dirty="0"/>
          </a:p>
        </p:txBody>
      </p:sp>
      <p:sp>
        <p:nvSpPr>
          <p:cNvPr id="20" name="Method text 3"/>
          <p:cNvSpPr txBox="1"/>
          <p:nvPr/>
        </p:nvSpPr>
        <p:spPr>
          <a:xfrm>
            <a:off x="6519672" y="2130552"/>
            <a:ext cx="2057400" cy="475488"/>
          </a:xfrm>
          <a:prstGeom prst="rect">
            <a:avLst/>
          </a:prstGeom>
          <a:noFill/>
          <a:ln/>
        </p:spPr>
        <p:txBody>
          <a:bodyPr wrap="square" lIns="0" tIns="0" rIns="0" bIns="0" rtlCol="0" anchor="t"/>
          <a:lstStyle/>
          <a:p>
            <a:pPr indent="0" marL="0">
              <a:buNone/>
            </a:pPr>
            <a:r>
              <a:rPr lang="en-US" sz="1400" dirty="0">
                <a:solidFill>
                  <a:schemeClr val="tx2"/>
                </a:solidFill>
              </a:rPr>
              <a:t>Page structure and trip form</a:t>
            </a:r>
            <a:endParaRPr lang="en-US" sz="1400" dirty="0"/>
          </a:p>
        </p:txBody>
      </p:sp>
      <p:sp>
        <p:nvSpPr>
          <p:cNvPr id="21" name="Method card 4"/>
          <p:cNvSpPr/>
          <p:nvPr/>
        </p:nvSpPr>
        <p:spPr>
          <a:xfrm>
            <a:off x="6355080" y="3108960"/>
            <a:ext cx="2331720" cy="1481328"/>
          </a:xfrm>
          <a:prstGeom prst="roundRect">
            <a:avLst>
              <a:gd name="adj" fmla="val 7407"/>
            </a:avLst>
          </a:prstGeom>
          <a:solidFill>
            <a:schemeClr val="bg2"/>
          </a:solidFill>
          <a:ln w="12700">
            <a:solidFill>
              <a:schemeClr val="bg2"/>
            </a:solidFill>
            <a:prstDash val="solid"/>
          </a:ln>
        </p:spPr>
      </p:sp>
      <p:sp>
        <p:nvSpPr>
          <p:cNvPr id="22" name="Method circle 4"/>
          <p:cNvSpPr/>
          <p:nvPr/>
        </p:nvSpPr>
        <p:spPr>
          <a:xfrm>
            <a:off x="6519672" y="3246120"/>
            <a:ext cx="411480" cy="411480"/>
          </a:xfrm>
          <a:prstGeom prst="ellipse">
            <a:avLst/>
          </a:prstGeom>
          <a:solidFill>
            <a:schemeClr val="accent1"/>
          </a:solidFill>
          <a:ln w="12700">
            <a:solidFill>
              <a:schemeClr val="accent1"/>
            </a:solidFill>
            <a:prstDash val="solid"/>
          </a:ln>
        </p:spPr>
      </p:sp>
      <p:sp>
        <p:nvSpPr>
          <p:cNvPr id="23" name="Method number 4"/>
          <p:cNvSpPr txBox="1"/>
          <p:nvPr/>
        </p:nvSpPr>
        <p:spPr>
          <a:xfrm>
            <a:off x="6519672" y="324612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4</a:t>
            </a:r>
            <a:endParaRPr lang="en-US" sz="1700" dirty="0"/>
          </a:p>
        </p:txBody>
      </p:sp>
      <p:pic>
        <p:nvPicPr>
          <p:cNvPr id="24" name="Method icon 4" descr="Style with CSS icon">    </p:cNvPr>
          <p:cNvPicPr>
            <a:picLocks noChangeAspect="1"/>
          </p:cNvPicPr>
          <p:nvPr/>
        </p:nvPicPr>
        <p:blipFill>
          <a:blip r:embed="rId4"/>
          <a:stretch>
            <a:fillRect/>
          </a:stretch>
        </p:blipFill>
        <p:spPr>
          <a:xfrm>
            <a:off x="8092440" y="3264408"/>
            <a:ext cx="384048" cy="384048"/>
          </a:xfrm>
          <a:prstGeom prst="rect">
            <a:avLst/>
          </a:prstGeom>
        </p:spPr>
      </p:pic>
      <p:sp>
        <p:nvSpPr>
          <p:cNvPr id="25" name="Method title 4"/>
          <p:cNvSpPr txBox="1"/>
          <p:nvPr/>
        </p:nvSpPr>
        <p:spPr>
          <a:xfrm>
            <a:off x="6519672" y="3749040"/>
            <a:ext cx="2057400" cy="292608"/>
          </a:xfrm>
          <a:prstGeom prst="rect">
            <a:avLst/>
          </a:prstGeom>
          <a:noFill/>
          <a:ln/>
        </p:spPr>
        <p:txBody>
          <a:bodyPr wrap="square" lIns="0" tIns="0" rIns="0" bIns="0" rtlCol="0" anchor="t"/>
          <a:lstStyle/>
          <a:p>
            <a:pPr indent="0" marL="0">
              <a:buNone/>
            </a:pPr>
            <a:r>
              <a:rPr lang="en-US" sz="1600" b="1" dirty="0">
                <a:solidFill>
                  <a:schemeClr val="tx1"/>
                </a:solidFill>
              </a:rPr>
              <a:t>Style with CSS</a:t>
            </a:r>
            <a:endParaRPr lang="en-US" sz="1600" dirty="0"/>
          </a:p>
        </p:txBody>
      </p:sp>
      <p:sp>
        <p:nvSpPr>
          <p:cNvPr id="26" name="Method text 4"/>
          <p:cNvSpPr txBox="1"/>
          <p:nvPr/>
        </p:nvSpPr>
        <p:spPr>
          <a:xfrm>
            <a:off x="6519672" y="4050792"/>
            <a:ext cx="2057400" cy="475488"/>
          </a:xfrm>
          <a:prstGeom prst="rect">
            <a:avLst/>
          </a:prstGeom>
          <a:noFill/>
          <a:ln/>
        </p:spPr>
        <p:txBody>
          <a:bodyPr wrap="square" lIns="0" tIns="0" rIns="0" bIns="0" rtlCol="0" anchor="t"/>
          <a:lstStyle/>
          <a:p>
            <a:pPr indent="0" marL="0">
              <a:buNone/>
            </a:pPr>
            <a:r>
              <a:rPr lang="en-US" sz="1400" dirty="0">
                <a:solidFill>
                  <a:schemeClr val="tx2"/>
                </a:solidFill>
              </a:rPr>
              <a:t>Colours, layout, responsive</a:t>
            </a:r>
            <a:endParaRPr lang="en-US" sz="1400" dirty="0"/>
          </a:p>
        </p:txBody>
      </p:sp>
      <p:sp>
        <p:nvSpPr>
          <p:cNvPr id="27" name="Method card 5"/>
          <p:cNvSpPr/>
          <p:nvPr/>
        </p:nvSpPr>
        <p:spPr>
          <a:xfrm>
            <a:off x="3406140" y="3108960"/>
            <a:ext cx="2331720" cy="1481328"/>
          </a:xfrm>
          <a:prstGeom prst="roundRect">
            <a:avLst>
              <a:gd name="adj" fmla="val 7407"/>
            </a:avLst>
          </a:prstGeom>
          <a:solidFill>
            <a:schemeClr val="bg2"/>
          </a:solidFill>
          <a:ln w="12700">
            <a:solidFill>
              <a:schemeClr val="bg2"/>
            </a:solidFill>
            <a:prstDash val="solid"/>
          </a:ln>
        </p:spPr>
      </p:sp>
      <p:sp>
        <p:nvSpPr>
          <p:cNvPr id="28" name="Method circle 5"/>
          <p:cNvSpPr/>
          <p:nvPr/>
        </p:nvSpPr>
        <p:spPr>
          <a:xfrm>
            <a:off x="3570732" y="3246120"/>
            <a:ext cx="411480" cy="411480"/>
          </a:xfrm>
          <a:prstGeom prst="ellipse">
            <a:avLst/>
          </a:prstGeom>
          <a:solidFill>
            <a:schemeClr val="accent1"/>
          </a:solidFill>
          <a:ln w="12700">
            <a:solidFill>
              <a:schemeClr val="accent1"/>
            </a:solidFill>
            <a:prstDash val="solid"/>
          </a:ln>
        </p:spPr>
      </p:sp>
      <p:sp>
        <p:nvSpPr>
          <p:cNvPr id="29" name="Method number 5"/>
          <p:cNvSpPr txBox="1"/>
          <p:nvPr/>
        </p:nvSpPr>
        <p:spPr>
          <a:xfrm>
            <a:off x="3570732" y="324612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5</a:t>
            </a:r>
            <a:endParaRPr lang="en-US" sz="1700" dirty="0"/>
          </a:p>
        </p:txBody>
      </p:sp>
      <p:pic>
        <p:nvPicPr>
          <p:cNvPr id="30" name="Method icon 5" descr="Add JavaScript icon">    </p:cNvPr>
          <p:cNvPicPr>
            <a:picLocks noChangeAspect="1"/>
          </p:cNvPicPr>
          <p:nvPr/>
        </p:nvPicPr>
        <p:blipFill>
          <a:blip r:embed="rId5"/>
          <a:stretch>
            <a:fillRect/>
          </a:stretch>
        </p:blipFill>
        <p:spPr>
          <a:xfrm>
            <a:off x="5143500" y="3264408"/>
            <a:ext cx="384048" cy="384048"/>
          </a:xfrm>
          <a:prstGeom prst="rect">
            <a:avLst/>
          </a:prstGeom>
        </p:spPr>
      </p:pic>
      <p:sp>
        <p:nvSpPr>
          <p:cNvPr id="31" name="Method title 5"/>
          <p:cNvSpPr txBox="1"/>
          <p:nvPr/>
        </p:nvSpPr>
        <p:spPr>
          <a:xfrm>
            <a:off x="3570732" y="3749040"/>
            <a:ext cx="2057400" cy="292608"/>
          </a:xfrm>
          <a:prstGeom prst="rect">
            <a:avLst/>
          </a:prstGeom>
          <a:noFill/>
          <a:ln/>
        </p:spPr>
        <p:txBody>
          <a:bodyPr wrap="square" lIns="0" tIns="0" rIns="0" bIns="0" rtlCol="0" anchor="t"/>
          <a:lstStyle/>
          <a:p>
            <a:pPr indent="0" marL="0">
              <a:buNone/>
            </a:pPr>
            <a:r>
              <a:rPr lang="en-US" sz="1600" b="1" dirty="0">
                <a:solidFill>
                  <a:schemeClr val="tx1"/>
                </a:solidFill>
              </a:rPr>
              <a:t>Add JavaScript</a:t>
            </a:r>
            <a:endParaRPr lang="en-US" sz="1600" dirty="0"/>
          </a:p>
        </p:txBody>
      </p:sp>
      <p:sp>
        <p:nvSpPr>
          <p:cNvPr id="32" name="Method text 5"/>
          <p:cNvSpPr txBox="1"/>
          <p:nvPr/>
        </p:nvSpPr>
        <p:spPr>
          <a:xfrm>
            <a:off x="3570732" y="4050792"/>
            <a:ext cx="2057400" cy="475488"/>
          </a:xfrm>
          <a:prstGeom prst="rect">
            <a:avLst/>
          </a:prstGeom>
          <a:noFill/>
          <a:ln/>
        </p:spPr>
        <p:txBody>
          <a:bodyPr wrap="square" lIns="0" tIns="0" rIns="0" bIns="0" rtlCol="0" anchor="t"/>
          <a:lstStyle/>
          <a:p>
            <a:pPr indent="0" marL="0">
              <a:buNone/>
            </a:pPr>
            <a:r>
              <a:rPr lang="en-US" sz="1400" dirty="0">
                <a:solidFill>
                  <a:schemeClr val="tx2"/>
                </a:solidFill>
              </a:rPr>
              <a:t>Language switch, plans, budgets</a:t>
            </a:r>
            <a:endParaRPr lang="en-US" sz="1400" dirty="0"/>
          </a:p>
        </p:txBody>
      </p:sp>
      <p:sp>
        <p:nvSpPr>
          <p:cNvPr id="33" name="Method card 6"/>
          <p:cNvSpPr/>
          <p:nvPr/>
        </p:nvSpPr>
        <p:spPr>
          <a:xfrm>
            <a:off x="457200" y="3108960"/>
            <a:ext cx="2331720" cy="1481328"/>
          </a:xfrm>
          <a:prstGeom prst="roundRect">
            <a:avLst>
              <a:gd name="adj" fmla="val 7407"/>
            </a:avLst>
          </a:prstGeom>
          <a:solidFill>
            <a:schemeClr val="bg2"/>
          </a:solidFill>
          <a:ln w="12700">
            <a:solidFill>
              <a:schemeClr val="bg2"/>
            </a:solidFill>
            <a:prstDash val="solid"/>
          </a:ln>
        </p:spPr>
      </p:sp>
      <p:sp>
        <p:nvSpPr>
          <p:cNvPr id="34" name="Method circle 6"/>
          <p:cNvSpPr/>
          <p:nvPr/>
        </p:nvSpPr>
        <p:spPr>
          <a:xfrm>
            <a:off x="621792" y="3246120"/>
            <a:ext cx="411480" cy="411480"/>
          </a:xfrm>
          <a:prstGeom prst="ellipse">
            <a:avLst/>
          </a:prstGeom>
          <a:solidFill>
            <a:schemeClr val="accent1"/>
          </a:solidFill>
          <a:ln w="12700">
            <a:solidFill>
              <a:schemeClr val="accent1"/>
            </a:solidFill>
            <a:prstDash val="solid"/>
          </a:ln>
        </p:spPr>
      </p:sp>
      <p:sp>
        <p:nvSpPr>
          <p:cNvPr id="35" name="Method number 6"/>
          <p:cNvSpPr txBox="1"/>
          <p:nvPr/>
        </p:nvSpPr>
        <p:spPr>
          <a:xfrm>
            <a:off x="621792" y="3246120"/>
            <a:ext cx="411480" cy="411480"/>
          </a:xfrm>
          <a:prstGeom prst="rect">
            <a:avLst/>
          </a:prstGeom>
          <a:noFill/>
          <a:ln/>
        </p:spPr>
        <p:txBody>
          <a:bodyPr wrap="square" lIns="0" tIns="0" rIns="0" bIns="0" rtlCol="0" anchor="ctr"/>
          <a:lstStyle/>
          <a:p>
            <a:pPr algn="ctr" indent="0" marL="0">
              <a:buNone/>
            </a:pPr>
            <a:r>
              <a:rPr lang="en-US" sz="1700" b="1" dirty="0">
                <a:solidFill>
                  <a:schemeClr val="tx1"/>
                </a:solidFill>
              </a:rPr>
              <a:t>6</a:t>
            </a:r>
            <a:endParaRPr lang="en-US" sz="1700" dirty="0"/>
          </a:p>
        </p:txBody>
      </p:sp>
      <p:pic>
        <p:nvPicPr>
          <p:cNvPr id="36" name="Method icon 6" descr="Test &amp; deploy icon">    </p:cNvPr>
          <p:cNvPicPr>
            <a:picLocks noChangeAspect="1"/>
          </p:cNvPicPr>
          <p:nvPr/>
        </p:nvPicPr>
        <p:blipFill>
          <a:blip r:embed="rId6"/>
          <a:stretch>
            <a:fillRect/>
          </a:stretch>
        </p:blipFill>
        <p:spPr>
          <a:xfrm>
            <a:off x="2194560" y="3264408"/>
            <a:ext cx="384048" cy="384048"/>
          </a:xfrm>
          <a:prstGeom prst="rect">
            <a:avLst/>
          </a:prstGeom>
        </p:spPr>
      </p:pic>
      <p:sp>
        <p:nvSpPr>
          <p:cNvPr id="37" name="Method title 6"/>
          <p:cNvSpPr txBox="1"/>
          <p:nvPr/>
        </p:nvSpPr>
        <p:spPr>
          <a:xfrm>
            <a:off x="621792" y="3749040"/>
            <a:ext cx="2057400" cy="292608"/>
          </a:xfrm>
          <a:prstGeom prst="rect">
            <a:avLst/>
          </a:prstGeom>
          <a:noFill/>
          <a:ln/>
        </p:spPr>
        <p:txBody>
          <a:bodyPr wrap="square" lIns="0" tIns="0" rIns="0" bIns="0" rtlCol="0" anchor="t"/>
          <a:lstStyle/>
          <a:p>
            <a:pPr indent="0" marL="0">
              <a:buNone/>
            </a:pPr>
            <a:r>
              <a:rPr lang="en-US" sz="1600" b="1" dirty="0">
                <a:solidFill>
                  <a:schemeClr val="tx1"/>
                </a:solidFill>
              </a:rPr>
              <a:t>Test &amp; deploy</a:t>
            </a:r>
            <a:endParaRPr lang="en-US" sz="1600" dirty="0"/>
          </a:p>
        </p:txBody>
      </p:sp>
      <p:sp>
        <p:nvSpPr>
          <p:cNvPr id="38" name="Method text 6"/>
          <p:cNvSpPr txBox="1"/>
          <p:nvPr/>
        </p:nvSpPr>
        <p:spPr>
          <a:xfrm>
            <a:off x="621792" y="4050792"/>
            <a:ext cx="2057400" cy="475488"/>
          </a:xfrm>
          <a:prstGeom prst="rect">
            <a:avLst/>
          </a:prstGeom>
          <a:noFill/>
          <a:ln/>
        </p:spPr>
        <p:txBody>
          <a:bodyPr wrap="square" lIns="0" tIns="0" rIns="0" bIns="0" rtlCol="0" anchor="t"/>
          <a:lstStyle/>
          <a:p>
            <a:pPr indent="0" marL="0">
              <a:buNone/>
            </a:pPr>
            <a:r>
              <a:rPr lang="en-US" sz="1400" dirty="0">
                <a:solidFill>
                  <a:schemeClr val="tx2"/>
                </a:solidFill>
              </a:rPr>
              <a:t>Publish on GitHub Pages</a:t>
            </a:r>
            <a:endParaRPr lang="en-US" sz="1400" dirty="0"/>
          </a:p>
        </p:txBody>
      </p:sp>
      <p:sp>
        <p:nvSpPr>
          <p:cNvPr id="39" name="Row 1 arrow 1"/>
          <p:cNvSpPr/>
          <p:nvPr/>
        </p:nvSpPr>
        <p:spPr>
          <a:xfrm>
            <a:off x="2880360" y="1737360"/>
            <a:ext cx="434340" cy="329184"/>
          </a:xfrm>
          <a:prstGeom prst="rightArrow">
            <a:avLst/>
          </a:prstGeom>
          <a:solidFill>
            <a:schemeClr val="accent2"/>
          </a:solidFill>
          <a:ln w="12700">
            <a:solidFill>
              <a:schemeClr val="accent2"/>
            </a:solidFill>
            <a:prstDash val="solid"/>
          </a:ln>
        </p:spPr>
      </p:sp>
      <p:sp>
        <p:nvSpPr>
          <p:cNvPr id="40" name="Row 1 arrow 2"/>
          <p:cNvSpPr/>
          <p:nvPr/>
        </p:nvSpPr>
        <p:spPr>
          <a:xfrm>
            <a:off x="5829300" y="1737360"/>
            <a:ext cx="434340" cy="329184"/>
          </a:xfrm>
          <a:prstGeom prst="rightArrow">
            <a:avLst/>
          </a:prstGeom>
          <a:solidFill>
            <a:schemeClr val="accent2"/>
          </a:solidFill>
          <a:ln w="12700">
            <a:solidFill>
              <a:schemeClr val="accent2"/>
            </a:solidFill>
            <a:prstDash val="solid"/>
          </a:ln>
        </p:spPr>
      </p:sp>
      <p:sp>
        <p:nvSpPr>
          <p:cNvPr id="41" name="Turn arrow"/>
          <p:cNvSpPr/>
          <p:nvPr/>
        </p:nvSpPr>
        <p:spPr>
          <a:xfrm>
            <a:off x="7338060" y="2715768"/>
            <a:ext cx="365760" cy="347472"/>
          </a:xfrm>
          <a:prstGeom prst="downArrow">
            <a:avLst/>
          </a:prstGeom>
          <a:solidFill>
            <a:schemeClr val="accent2"/>
          </a:solidFill>
          <a:ln w="12700">
            <a:solidFill>
              <a:schemeClr val="accent2"/>
            </a:solidFill>
            <a:prstDash val="solid"/>
          </a:ln>
        </p:spPr>
      </p:sp>
      <p:sp>
        <p:nvSpPr>
          <p:cNvPr id="42" name="Row 2 arrow 1"/>
          <p:cNvSpPr/>
          <p:nvPr/>
        </p:nvSpPr>
        <p:spPr>
          <a:xfrm>
            <a:off x="2880360" y="3657600"/>
            <a:ext cx="434340" cy="329184"/>
          </a:xfrm>
          <a:prstGeom prst="leftArrow">
            <a:avLst/>
          </a:prstGeom>
          <a:solidFill>
            <a:schemeClr val="accent2"/>
          </a:solidFill>
          <a:ln w="12700">
            <a:solidFill>
              <a:schemeClr val="accent2"/>
            </a:solidFill>
            <a:prstDash val="solid"/>
          </a:ln>
        </p:spPr>
      </p:sp>
      <p:sp>
        <p:nvSpPr>
          <p:cNvPr id="43" name="Row 2 arrow 2"/>
          <p:cNvSpPr/>
          <p:nvPr/>
        </p:nvSpPr>
        <p:spPr>
          <a:xfrm>
            <a:off x="5829300" y="3657600"/>
            <a:ext cx="434340" cy="329184"/>
          </a:xfrm>
          <a:prstGeom prst="leftArrow">
            <a:avLst/>
          </a:prstGeom>
          <a:solidFill>
            <a:schemeClr val="accent2"/>
          </a:solidFill>
          <a:ln w="12700">
            <a:solidFill>
              <a:schemeClr val="accent2"/>
            </a:solidFill>
            <a:prstDash val="solid"/>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Tech Stack &amp; Architecture</a:t>
            </a:r>
            <a:endParaRPr lang="en-US" sz="3400" dirty="0"/>
          </a:p>
        </p:txBody>
      </p:sp>
      <p:sp>
        <p:nvSpPr>
          <p:cNvPr id="3" name="Prototype label"/>
          <p:cNvSpPr/>
          <p:nvPr/>
        </p:nvSpPr>
        <p:spPr>
          <a:xfrm>
            <a:off x="457200" y="1005840"/>
            <a:ext cx="5852160" cy="310896"/>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tx1"/>
                </a:solidFill>
              </a:rPr>
              <a:t>FRONTEND PROTOTYPE  |  no backend, no database, no AI service</a:t>
            </a:r>
            <a:endParaRPr lang="en-US" sz="1200" dirty="0"/>
          </a:p>
        </p:txBody>
      </p:sp>
      <p:sp>
        <p:nvSpPr>
          <p:cNvPr id="4" name="Traveller box"/>
          <p:cNvSpPr/>
          <p:nvPr/>
        </p:nvSpPr>
        <p:spPr>
          <a:xfrm>
            <a:off x="457200" y="1965960"/>
            <a:ext cx="960120" cy="1554480"/>
          </a:xfrm>
          <a:prstGeom prst="roundRect">
            <a:avLst>
              <a:gd name="adj" fmla="val 9524"/>
            </a:avLst>
          </a:prstGeom>
          <a:solidFill>
            <a:schemeClr val="tx1"/>
          </a:solidFill>
          <a:ln w="12700">
            <a:solidFill>
              <a:schemeClr val="tx1"/>
            </a:solidFill>
            <a:prstDash val="solid"/>
          </a:ln>
        </p:spPr>
      </p:sp>
      <p:pic>
        <p:nvPicPr>
          <p:cNvPr id="5" name="Traveller icon" descr="Traveller icon">    </p:cNvPr>
          <p:cNvPicPr>
            <a:picLocks noChangeAspect="1"/>
          </p:cNvPicPr>
          <p:nvPr/>
        </p:nvPicPr>
        <p:blipFill>
          <a:blip r:embed="rId1"/>
          <a:stretch>
            <a:fillRect/>
          </a:stretch>
        </p:blipFill>
        <p:spPr>
          <a:xfrm>
            <a:off x="704088" y="2240280"/>
            <a:ext cx="457200" cy="457200"/>
          </a:xfrm>
          <a:prstGeom prst="rect">
            <a:avLst/>
          </a:prstGeom>
        </p:spPr>
      </p:pic>
      <p:sp>
        <p:nvSpPr>
          <p:cNvPr id="6" name="Traveller label"/>
          <p:cNvSpPr txBox="1"/>
          <p:nvPr/>
        </p:nvSpPr>
        <p:spPr>
          <a:xfrm>
            <a:off x="457200" y="2834640"/>
            <a:ext cx="960120" cy="457200"/>
          </a:xfrm>
          <a:prstGeom prst="rect">
            <a:avLst/>
          </a:prstGeom>
          <a:noFill/>
          <a:ln/>
        </p:spPr>
        <p:txBody>
          <a:bodyPr wrap="square" lIns="0" tIns="0" rIns="0" bIns="0" rtlCol="0" anchor="t"/>
          <a:lstStyle/>
          <a:p>
            <a:pPr algn="ctr" indent="0" marL="0">
              <a:buNone/>
            </a:pPr>
            <a:r>
              <a:rPr lang="en-US" sz="1400" b="1" dirty="0">
                <a:solidFill>
                  <a:schemeClr val="bg1"/>
                </a:solidFill>
              </a:rPr>
              <a:t>Traveller</a:t>
            </a:r>
            <a:endParaRPr lang="en-US" sz="1400" dirty="0"/>
          </a:p>
        </p:txBody>
      </p:sp>
      <p:sp>
        <p:nvSpPr>
          <p:cNvPr id="7" name="Arrow in"/>
          <p:cNvSpPr/>
          <p:nvPr/>
        </p:nvSpPr>
        <p:spPr>
          <a:xfrm>
            <a:off x="1463040" y="2560320"/>
            <a:ext cx="256032" cy="365760"/>
          </a:xfrm>
          <a:prstGeom prst="rightArrow">
            <a:avLst/>
          </a:prstGeom>
          <a:solidFill>
            <a:schemeClr val="accent2"/>
          </a:solidFill>
          <a:ln w="12700">
            <a:solidFill>
              <a:schemeClr val="accent2"/>
            </a:solidFill>
            <a:prstDash val="solid"/>
          </a:ln>
        </p:spPr>
      </p:sp>
      <p:sp>
        <p:nvSpPr>
          <p:cNvPr id="8" name="Browser container"/>
          <p:cNvSpPr/>
          <p:nvPr/>
        </p:nvSpPr>
        <p:spPr>
          <a:xfrm>
            <a:off x="1764792" y="1554480"/>
            <a:ext cx="5669280" cy="2194560"/>
          </a:xfrm>
          <a:prstGeom prst="roundRect">
            <a:avLst>
              <a:gd name="adj" fmla="val 4167"/>
            </a:avLst>
          </a:prstGeom>
          <a:solidFill>
            <a:schemeClr val="bg1"/>
          </a:solidFill>
          <a:ln w="19050">
            <a:solidFill>
              <a:schemeClr val="tx2"/>
            </a:solidFill>
            <a:prstDash val="dash"/>
          </a:ln>
        </p:spPr>
      </p:sp>
      <p:sp>
        <p:nvSpPr>
          <p:cNvPr id="9" name="Browser label"/>
          <p:cNvSpPr txBox="1"/>
          <p:nvPr/>
        </p:nvSpPr>
        <p:spPr>
          <a:xfrm>
            <a:off x="1920240" y="1618488"/>
            <a:ext cx="5303520" cy="256032"/>
          </a:xfrm>
          <a:prstGeom prst="rect">
            <a:avLst/>
          </a:prstGeom>
          <a:noFill/>
          <a:ln/>
        </p:spPr>
        <p:txBody>
          <a:bodyPr wrap="square" lIns="0" tIns="0" rIns="0" bIns="0" rtlCol="0" anchor="t"/>
          <a:lstStyle/>
          <a:p>
            <a:pPr indent="0" marL="0">
              <a:buNone/>
            </a:pPr>
            <a:r>
              <a:rPr lang="en-US" sz="1200" b="1" dirty="0">
                <a:solidFill>
                  <a:schemeClr val="tx2"/>
                </a:solidFill>
              </a:rPr>
              <a:t>Runs in the traveller’s web browser</a:t>
            </a:r>
            <a:endParaRPr lang="en-US" sz="1200" dirty="0"/>
          </a:p>
        </p:txBody>
      </p:sp>
      <p:sp>
        <p:nvSpPr>
          <p:cNvPr id="10" name="Arch box 1"/>
          <p:cNvSpPr/>
          <p:nvPr/>
        </p:nvSpPr>
        <p:spPr>
          <a:xfrm>
            <a:off x="1901952" y="1965960"/>
            <a:ext cx="1645920" cy="1554480"/>
          </a:xfrm>
          <a:prstGeom prst="roundRect">
            <a:avLst>
              <a:gd name="adj" fmla="val 5882"/>
            </a:avLst>
          </a:prstGeom>
          <a:solidFill>
            <a:schemeClr val="bg2"/>
          </a:solidFill>
          <a:ln w="12700">
            <a:solidFill>
              <a:schemeClr val="bg2"/>
            </a:solidFill>
            <a:prstDash val="solid"/>
          </a:ln>
        </p:spPr>
      </p:sp>
      <p:sp>
        <p:nvSpPr>
          <p:cNvPr id="11" name="Arch icon 1 circle"/>
          <p:cNvSpPr/>
          <p:nvPr/>
        </p:nvSpPr>
        <p:spPr>
          <a:xfrm>
            <a:off x="2514600" y="2075688"/>
            <a:ext cx="420624" cy="420624"/>
          </a:xfrm>
          <a:prstGeom prst="ellipse">
            <a:avLst/>
          </a:prstGeom>
          <a:solidFill>
            <a:schemeClr val="tx1"/>
          </a:solidFill>
          <a:ln w="12700">
            <a:solidFill>
              <a:schemeClr val="tx1"/>
            </a:solidFill>
            <a:prstDash val="solid"/>
          </a:ln>
        </p:spPr>
      </p:sp>
      <p:pic>
        <p:nvPicPr>
          <p:cNvPr id="12" name="Arch icon 1" descr="Arch icon 1">    </p:cNvPr>
          <p:cNvPicPr>
            <a:picLocks noChangeAspect="1"/>
          </p:cNvPicPr>
          <p:nvPr/>
        </p:nvPicPr>
        <p:blipFill>
          <a:blip r:embed="rId2"/>
          <a:stretch>
            <a:fillRect/>
          </a:stretch>
        </p:blipFill>
        <p:spPr>
          <a:xfrm>
            <a:off x="2623962" y="2185050"/>
            <a:ext cx="201900" cy="201900"/>
          </a:xfrm>
          <a:prstGeom prst="rect">
            <a:avLst/>
          </a:prstGeom>
        </p:spPr>
      </p:pic>
      <p:sp>
        <p:nvSpPr>
          <p:cNvPr id="13" name="Arch title 1"/>
          <p:cNvSpPr txBox="1"/>
          <p:nvPr/>
        </p:nvSpPr>
        <p:spPr>
          <a:xfrm>
            <a:off x="1993392" y="256032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Interface</a:t>
            </a:r>
            <a:endParaRPr lang="en-US" sz="1400" dirty="0"/>
          </a:p>
        </p:txBody>
      </p:sp>
      <p:sp>
        <p:nvSpPr>
          <p:cNvPr id="14" name="Arch text 1"/>
          <p:cNvSpPr txBox="1"/>
          <p:nvPr/>
        </p:nvSpPr>
        <p:spPr>
          <a:xfrm>
            <a:off x="1993392" y="2852928"/>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HTML structure + CSS design</a:t>
            </a:r>
            <a:endParaRPr lang="en-US" sz="1200" dirty="0"/>
          </a:p>
        </p:txBody>
      </p:sp>
      <p:sp>
        <p:nvSpPr>
          <p:cNvPr id="15" name="Inner arrow 1"/>
          <p:cNvSpPr/>
          <p:nvPr/>
        </p:nvSpPr>
        <p:spPr>
          <a:xfrm>
            <a:off x="3584448" y="2606040"/>
            <a:ext cx="182880" cy="274320"/>
          </a:xfrm>
          <a:prstGeom prst="rightArrow">
            <a:avLst/>
          </a:prstGeom>
          <a:solidFill>
            <a:schemeClr val="accent2"/>
          </a:solidFill>
          <a:ln w="12700">
            <a:solidFill>
              <a:schemeClr val="accent2"/>
            </a:solidFill>
            <a:prstDash val="solid"/>
          </a:ln>
        </p:spPr>
      </p:sp>
      <p:sp>
        <p:nvSpPr>
          <p:cNvPr id="16" name="Arch box 2"/>
          <p:cNvSpPr/>
          <p:nvPr/>
        </p:nvSpPr>
        <p:spPr>
          <a:xfrm>
            <a:off x="3776472" y="1965960"/>
            <a:ext cx="1645920" cy="1554480"/>
          </a:xfrm>
          <a:prstGeom prst="roundRect">
            <a:avLst>
              <a:gd name="adj" fmla="val 5882"/>
            </a:avLst>
          </a:prstGeom>
          <a:solidFill>
            <a:schemeClr val="bg2"/>
          </a:solidFill>
          <a:ln w="12700">
            <a:solidFill>
              <a:schemeClr val="bg2"/>
            </a:solidFill>
            <a:prstDash val="solid"/>
          </a:ln>
        </p:spPr>
      </p:sp>
      <p:sp>
        <p:nvSpPr>
          <p:cNvPr id="17" name="Arch icon 2 circle"/>
          <p:cNvSpPr/>
          <p:nvPr/>
        </p:nvSpPr>
        <p:spPr>
          <a:xfrm>
            <a:off x="4389120" y="2075688"/>
            <a:ext cx="420624" cy="420624"/>
          </a:xfrm>
          <a:prstGeom prst="ellipse">
            <a:avLst/>
          </a:prstGeom>
          <a:solidFill>
            <a:schemeClr val="tx1"/>
          </a:solidFill>
          <a:ln w="12700">
            <a:solidFill>
              <a:schemeClr val="tx1"/>
            </a:solidFill>
            <a:prstDash val="solid"/>
          </a:ln>
        </p:spPr>
      </p:sp>
      <p:pic>
        <p:nvPicPr>
          <p:cNvPr id="18" name="Arch icon 2" descr="Arch icon 2">    </p:cNvPr>
          <p:cNvPicPr>
            <a:picLocks noChangeAspect="1"/>
          </p:cNvPicPr>
          <p:nvPr/>
        </p:nvPicPr>
        <p:blipFill>
          <a:blip r:embed="rId3"/>
          <a:stretch>
            <a:fillRect/>
          </a:stretch>
        </p:blipFill>
        <p:spPr>
          <a:xfrm>
            <a:off x="4498482" y="2185050"/>
            <a:ext cx="201900" cy="201900"/>
          </a:xfrm>
          <a:prstGeom prst="rect">
            <a:avLst/>
          </a:prstGeom>
        </p:spPr>
      </p:pic>
      <p:sp>
        <p:nvSpPr>
          <p:cNvPr id="19" name="Arch title 2"/>
          <p:cNvSpPr txBox="1"/>
          <p:nvPr/>
        </p:nvSpPr>
        <p:spPr>
          <a:xfrm>
            <a:off x="3867912" y="256032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JavaScript logic</a:t>
            </a:r>
            <a:endParaRPr lang="en-US" sz="1400" dirty="0"/>
          </a:p>
        </p:txBody>
      </p:sp>
      <p:sp>
        <p:nvSpPr>
          <p:cNvPr id="20" name="Arch text 2"/>
          <p:cNvSpPr txBox="1"/>
          <p:nvPr/>
        </p:nvSpPr>
        <p:spPr>
          <a:xfrm>
            <a:off x="3867912" y="2852928"/>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Rules, curated data, budget maths</a:t>
            </a:r>
            <a:endParaRPr lang="en-US" sz="1200" dirty="0"/>
          </a:p>
        </p:txBody>
      </p:sp>
      <p:sp>
        <p:nvSpPr>
          <p:cNvPr id="21" name="Inner arrow 2"/>
          <p:cNvSpPr/>
          <p:nvPr/>
        </p:nvSpPr>
        <p:spPr>
          <a:xfrm>
            <a:off x="5458968" y="2606040"/>
            <a:ext cx="182880" cy="274320"/>
          </a:xfrm>
          <a:prstGeom prst="rightArrow">
            <a:avLst/>
          </a:prstGeom>
          <a:solidFill>
            <a:schemeClr val="accent2"/>
          </a:solidFill>
          <a:ln w="12700">
            <a:solidFill>
              <a:schemeClr val="accent2"/>
            </a:solidFill>
            <a:prstDash val="solid"/>
          </a:ln>
        </p:spPr>
      </p:sp>
      <p:sp>
        <p:nvSpPr>
          <p:cNvPr id="22" name="Arch box 3"/>
          <p:cNvSpPr/>
          <p:nvPr/>
        </p:nvSpPr>
        <p:spPr>
          <a:xfrm>
            <a:off x="5650992" y="1965960"/>
            <a:ext cx="1645920" cy="1554480"/>
          </a:xfrm>
          <a:prstGeom prst="roundRect">
            <a:avLst>
              <a:gd name="adj" fmla="val 5882"/>
            </a:avLst>
          </a:prstGeom>
          <a:solidFill>
            <a:schemeClr val="bg2"/>
          </a:solidFill>
          <a:ln w="12700">
            <a:solidFill>
              <a:schemeClr val="bg2"/>
            </a:solidFill>
            <a:prstDash val="solid"/>
          </a:ln>
        </p:spPr>
      </p:sp>
      <p:sp>
        <p:nvSpPr>
          <p:cNvPr id="23" name="Arch icon 3 circle"/>
          <p:cNvSpPr/>
          <p:nvPr/>
        </p:nvSpPr>
        <p:spPr>
          <a:xfrm>
            <a:off x="6263640" y="2075688"/>
            <a:ext cx="420624" cy="420624"/>
          </a:xfrm>
          <a:prstGeom prst="ellipse">
            <a:avLst/>
          </a:prstGeom>
          <a:solidFill>
            <a:schemeClr val="tx1"/>
          </a:solidFill>
          <a:ln w="12700">
            <a:solidFill>
              <a:schemeClr val="tx1"/>
            </a:solidFill>
            <a:prstDash val="solid"/>
          </a:ln>
        </p:spPr>
      </p:sp>
      <p:pic>
        <p:nvPicPr>
          <p:cNvPr id="24" name="Arch icon 3" descr="Arch icon 3">    </p:cNvPr>
          <p:cNvPicPr>
            <a:picLocks noChangeAspect="1"/>
          </p:cNvPicPr>
          <p:nvPr/>
        </p:nvPicPr>
        <p:blipFill>
          <a:blip r:embed="rId4"/>
          <a:stretch>
            <a:fillRect/>
          </a:stretch>
        </p:blipFill>
        <p:spPr>
          <a:xfrm>
            <a:off x="6373002" y="2185050"/>
            <a:ext cx="201900" cy="201900"/>
          </a:xfrm>
          <a:prstGeom prst="rect">
            <a:avLst/>
          </a:prstGeom>
        </p:spPr>
      </p:pic>
      <p:sp>
        <p:nvSpPr>
          <p:cNvPr id="25" name="Arch title 3"/>
          <p:cNvSpPr txBox="1"/>
          <p:nvPr/>
        </p:nvSpPr>
        <p:spPr>
          <a:xfrm>
            <a:off x="5742432" y="2560320"/>
            <a:ext cx="1463040" cy="274320"/>
          </a:xfrm>
          <a:prstGeom prst="rect">
            <a:avLst/>
          </a:prstGeom>
          <a:noFill/>
          <a:ln/>
        </p:spPr>
        <p:txBody>
          <a:bodyPr wrap="square" lIns="0" tIns="0" rIns="0" bIns="0" rtlCol="0" anchor="t"/>
          <a:lstStyle/>
          <a:p>
            <a:pPr algn="ctr" indent="0" marL="0">
              <a:buNone/>
            </a:pPr>
            <a:r>
              <a:rPr lang="en-US" sz="1400" b="1" dirty="0">
                <a:solidFill>
                  <a:schemeClr val="tx1"/>
                </a:solidFill>
              </a:rPr>
              <a:t>Results shown</a:t>
            </a:r>
            <a:endParaRPr lang="en-US" sz="1400" dirty="0"/>
          </a:p>
        </p:txBody>
      </p:sp>
      <p:sp>
        <p:nvSpPr>
          <p:cNvPr id="26" name="Arch text 3"/>
          <p:cNvSpPr txBox="1"/>
          <p:nvPr/>
        </p:nvSpPr>
        <p:spPr>
          <a:xfrm>
            <a:off x="5742432" y="2852928"/>
            <a:ext cx="1463040" cy="594360"/>
          </a:xfrm>
          <a:prstGeom prst="rect">
            <a:avLst/>
          </a:prstGeom>
          <a:noFill/>
          <a:ln/>
        </p:spPr>
        <p:txBody>
          <a:bodyPr wrap="square" lIns="0" tIns="0" rIns="0" bIns="0" rtlCol="0" anchor="t"/>
          <a:lstStyle/>
          <a:p>
            <a:pPr algn="ctr" indent="0" marL="0">
              <a:buNone/>
            </a:pPr>
            <a:r>
              <a:rPr lang="en-US" sz="1200" dirty="0">
                <a:solidFill>
                  <a:schemeClr val="tx2"/>
                </a:solidFill>
              </a:rPr>
              <a:t>Plan, costs, map links</a:t>
            </a:r>
            <a:endParaRPr lang="en-US" sz="1200" dirty="0"/>
          </a:p>
        </p:txBody>
      </p:sp>
      <p:sp>
        <p:nvSpPr>
          <p:cNvPr id="27" name="Arrow out"/>
          <p:cNvSpPr/>
          <p:nvPr/>
        </p:nvSpPr>
        <p:spPr>
          <a:xfrm>
            <a:off x="7479792" y="2560320"/>
            <a:ext cx="256032" cy="365760"/>
          </a:xfrm>
          <a:prstGeom prst="rightArrow">
            <a:avLst/>
          </a:prstGeom>
          <a:solidFill>
            <a:schemeClr val="accent2"/>
          </a:solidFill>
          <a:ln w="12700">
            <a:solidFill>
              <a:schemeClr val="accent2"/>
            </a:solidFill>
            <a:prstDash val="solid"/>
          </a:ln>
        </p:spPr>
      </p:sp>
      <p:sp>
        <p:nvSpPr>
          <p:cNvPr id="28" name="Maps box"/>
          <p:cNvSpPr/>
          <p:nvPr/>
        </p:nvSpPr>
        <p:spPr>
          <a:xfrm>
            <a:off x="7772400" y="1965960"/>
            <a:ext cx="914400" cy="1554480"/>
          </a:xfrm>
          <a:prstGeom prst="roundRect">
            <a:avLst>
              <a:gd name="adj" fmla="val 10000"/>
            </a:avLst>
          </a:prstGeom>
          <a:solidFill>
            <a:schemeClr val="accent2"/>
          </a:solidFill>
          <a:ln w="12700">
            <a:solidFill>
              <a:schemeClr val="accent2"/>
            </a:solidFill>
            <a:prstDash val="solid"/>
          </a:ln>
        </p:spPr>
      </p:sp>
      <p:pic>
        <p:nvPicPr>
          <p:cNvPr id="29" name="Maps icon" descr="Map icon">    </p:cNvPr>
          <p:cNvPicPr>
            <a:picLocks noChangeAspect="1"/>
          </p:cNvPicPr>
          <p:nvPr/>
        </p:nvPicPr>
        <p:blipFill>
          <a:blip r:embed="rId5"/>
          <a:stretch>
            <a:fillRect/>
          </a:stretch>
        </p:blipFill>
        <p:spPr>
          <a:xfrm>
            <a:off x="8001000" y="2240280"/>
            <a:ext cx="457200" cy="457200"/>
          </a:xfrm>
          <a:prstGeom prst="rect">
            <a:avLst/>
          </a:prstGeom>
        </p:spPr>
      </p:pic>
      <p:sp>
        <p:nvSpPr>
          <p:cNvPr id="30" name="Maps label"/>
          <p:cNvSpPr txBox="1"/>
          <p:nvPr/>
        </p:nvSpPr>
        <p:spPr>
          <a:xfrm>
            <a:off x="7772400" y="2834640"/>
            <a:ext cx="914400" cy="548640"/>
          </a:xfrm>
          <a:prstGeom prst="rect">
            <a:avLst/>
          </a:prstGeom>
          <a:noFill/>
          <a:ln/>
        </p:spPr>
        <p:txBody>
          <a:bodyPr wrap="square" lIns="0" tIns="0" rIns="0" bIns="0" rtlCol="0" anchor="t"/>
          <a:lstStyle/>
          <a:p>
            <a:pPr algn="ctr" indent="0" marL="0">
              <a:buNone/>
            </a:pPr>
            <a:r>
              <a:rPr lang="en-US" sz="1200" b="1" dirty="0">
                <a:solidFill>
                  <a:schemeClr val="bg1"/>
                </a:solidFill>
              </a:rPr>
              <a:t>Google Maps</a:t>
            </a:r>
            <a:endParaRPr lang="en-US" sz="1200" dirty="0"/>
          </a:p>
          <a:p>
            <a:pPr algn="ctr" indent="0" marL="0">
              <a:buNone/>
            </a:pPr>
            <a:r>
              <a:rPr lang="en-US" sz="1100" dirty="0">
                <a:solidFill>
                  <a:schemeClr val="bg1"/>
                </a:solidFill>
              </a:rPr>
              <a:t>external link</a:t>
            </a:r>
            <a:endParaRPr lang="en-US" sz="1200" dirty="0"/>
          </a:p>
        </p:txBody>
      </p:sp>
      <p:sp>
        <p:nvSpPr>
          <p:cNvPr id="31" name="Stack chip 1"/>
          <p:cNvSpPr/>
          <p:nvPr/>
        </p:nvSpPr>
        <p:spPr>
          <a:xfrm>
            <a:off x="457200" y="3931920"/>
            <a:ext cx="1920240" cy="685800"/>
          </a:xfrm>
          <a:prstGeom prst="roundRect">
            <a:avLst>
              <a:gd name="adj" fmla="val 13333"/>
            </a:avLst>
          </a:prstGeom>
          <a:solidFill>
            <a:schemeClr val="tx1"/>
          </a:solidFill>
          <a:ln w="12700">
            <a:solidFill>
              <a:schemeClr val="tx1"/>
            </a:solidFill>
            <a:prstDash val="solid"/>
          </a:ln>
        </p:spPr>
      </p:sp>
      <p:pic>
        <p:nvPicPr>
          <p:cNvPr id="32" name="Stack icon 1" descr="HTML icon">    </p:cNvPr>
          <p:cNvPicPr>
            <a:picLocks noChangeAspect="1"/>
          </p:cNvPicPr>
          <p:nvPr/>
        </p:nvPicPr>
        <p:blipFill>
          <a:blip r:embed="rId6"/>
          <a:stretch>
            <a:fillRect/>
          </a:stretch>
        </p:blipFill>
        <p:spPr>
          <a:xfrm>
            <a:off x="594360" y="4087368"/>
            <a:ext cx="365760" cy="365760"/>
          </a:xfrm>
          <a:prstGeom prst="rect">
            <a:avLst/>
          </a:prstGeom>
        </p:spPr>
      </p:pic>
      <p:sp>
        <p:nvSpPr>
          <p:cNvPr id="33" name="Stack text 1"/>
          <p:cNvSpPr txBox="1"/>
          <p:nvPr/>
        </p:nvSpPr>
        <p:spPr>
          <a:xfrm>
            <a:off x="1051560" y="4005072"/>
            <a:ext cx="1280160" cy="548640"/>
          </a:xfrm>
          <a:prstGeom prst="rect">
            <a:avLst/>
          </a:prstGeom>
          <a:noFill/>
          <a:ln/>
        </p:spPr>
        <p:txBody>
          <a:bodyPr wrap="square" lIns="0" tIns="0" rIns="0" bIns="0" rtlCol="0" anchor="ctr"/>
          <a:lstStyle/>
          <a:p>
            <a:pPr indent="0" marL="0">
              <a:buNone/>
            </a:pPr>
            <a:r>
              <a:rPr lang="en-US" sz="1400" b="1" dirty="0">
                <a:solidFill>
                  <a:schemeClr val="accent1"/>
                </a:solidFill>
              </a:rPr>
              <a:t>HTML</a:t>
            </a:r>
            <a:endParaRPr lang="en-US" sz="1400" dirty="0"/>
          </a:p>
          <a:p>
            <a:pPr indent="0" marL="0">
              <a:buNone/>
            </a:pPr>
            <a:r>
              <a:rPr lang="en-US" sz="1200" dirty="0">
                <a:solidFill>
                  <a:schemeClr val="bg1"/>
                </a:solidFill>
              </a:rPr>
              <a:t>Page structure</a:t>
            </a:r>
            <a:endParaRPr lang="en-US" sz="1400" dirty="0"/>
          </a:p>
        </p:txBody>
      </p:sp>
      <p:sp>
        <p:nvSpPr>
          <p:cNvPr id="34" name="Stack chip 2"/>
          <p:cNvSpPr/>
          <p:nvPr/>
        </p:nvSpPr>
        <p:spPr>
          <a:xfrm>
            <a:off x="2560320" y="3931920"/>
            <a:ext cx="1920240" cy="685800"/>
          </a:xfrm>
          <a:prstGeom prst="roundRect">
            <a:avLst>
              <a:gd name="adj" fmla="val 13333"/>
            </a:avLst>
          </a:prstGeom>
          <a:solidFill>
            <a:schemeClr val="tx1"/>
          </a:solidFill>
          <a:ln w="12700">
            <a:solidFill>
              <a:schemeClr val="tx1"/>
            </a:solidFill>
            <a:prstDash val="solid"/>
          </a:ln>
        </p:spPr>
      </p:sp>
      <p:pic>
        <p:nvPicPr>
          <p:cNvPr id="35" name="Stack icon 2" descr="CSS icon">    </p:cNvPr>
          <p:cNvPicPr>
            <a:picLocks noChangeAspect="1"/>
          </p:cNvPicPr>
          <p:nvPr/>
        </p:nvPicPr>
        <p:blipFill>
          <a:blip r:embed="rId7"/>
          <a:stretch>
            <a:fillRect/>
          </a:stretch>
        </p:blipFill>
        <p:spPr>
          <a:xfrm>
            <a:off x="2697480" y="4087368"/>
            <a:ext cx="365760" cy="365760"/>
          </a:xfrm>
          <a:prstGeom prst="rect">
            <a:avLst/>
          </a:prstGeom>
        </p:spPr>
      </p:pic>
      <p:sp>
        <p:nvSpPr>
          <p:cNvPr id="36" name="Stack text 2"/>
          <p:cNvSpPr txBox="1"/>
          <p:nvPr/>
        </p:nvSpPr>
        <p:spPr>
          <a:xfrm>
            <a:off x="3154680" y="4005072"/>
            <a:ext cx="1280160" cy="548640"/>
          </a:xfrm>
          <a:prstGeom prst="rect">
            <a:avLst/>
          </a:prstGeom>
          <a:noFill/>
          <a:ln/>
        </p:spPr>
        <p:txBody>
          <a:bodyPr wrap="square" lIns="0" tIns="0" rIns="0" bIns="0" rtlCol="0" anchor="ctr"/>
          <a:lstStyle/>
          <a:p>
            <a:pPr indent="0" marL="0">
              <a:buNone/>
            </a:pPr>
            <a:r>
              <a:rPr lang="en-US" sz="1400" b="1" dirty="0">
                <a:solidFill>
                  <a:schemeClr val="accent1"/>
                </a:solidFill>
              </a:rPr>
              <a:t>CSS</a:t>
            </a:r>
            <a:endParaRPr lang="en-US" sz="1400" dirty="0"/>
          </a:p>
          <a:p>
            <a:pPr indent="0" marL="0">
              <a:buNone/>
            </a:pPr>
            <a:r>
              <a:rPr lang="en-US" sz="1200" dirty="0">
                <a:solidFill>
                  <a:schemeClr val="bg1"/>
                </a:solidFill>
              </a:rPr>
              <a:t>Design, responsive</a:t>
            </a:r>
            <a:endParaRPr lang="en-US" sz="1400" dirty="0"/>
          </a:p>
        </p:txBody>
      </p:sp>
      <p:sp>
        <p:nvSpPr>
          <p:cNvPr id="37" name="Stack chip 3"/>
          <p:cNvSpPr/>
          <p:nvPr/>
        </p:nvSpPr>
        <p:spPr>
          <a:xfrm>
            <a:off x="4663440" y="3931920"/>
            <a:ext cx="1920240" cy="685800"/>
          </a:xfrm>
          <a:prstGeom prst="roundRect">
            <a:avLst>
              <a:gd name="adj" fmla="val 13333"/>
            </a:avLst>
          </a:prstGeom>
          <a:solidFill>
            <a:schemeClr val="tx1"/>
          </a:solidFill>
          <a:ln w="12700">
            <a:solidFill>
              <a:schemeClr val="tx1"/>
            </a:solidFill>
            <a:prstDash val="solid"/>
          </a:ln>
        </p:spPr>
      </p:sp>
      <p:pic>
        <p:nvPicPr>
          <p:cNvPr id="38" name="Stack icon 3" descr="JavaScript icon">    </p:cNvPr>
          <p:cNvPicPr>
            <a:picLocks noChangeAspect="1"/>
          </p:cNvPicPr>
          <p:nvPr/>
        </p:nvPicPr>
        <p:blipFill>
          <a:blip r:embed="rId8"/>
          <a:stretch>
            <a:fillRect/>
          </a:stretch>
        </p:blipFill>
        <p:spPr>
          <a:xfrm>
            <a:off x="4800600" y="4087368"/>
            <a:ext cx="365760" cy="365760"/>
          </a:xfrm>
          <a:prstGeom prst="rect">
            <a:avLst/>
          </a:prstGeom>
        </p:spPr>
      </p:pic>
      <p:sp>
        <p:nvSpPr>
          <p:cNvPr id="39" name="Stack text 3"/>
          <p:cNvSpPr txBox="1"/>
          <p:nvPr/>
        </p:nvSpPr>
        <p:spPr>
          <a:xfrm>
            <a:off x="5257800" y="4005072"/>
            <a:ext cx="1280160" cy="548640"/>
          </a:xfrm>
          <a:prstGeom prst="rect">
            <a:avLst/>
          </a:prstGeom>
          <a:noFill/>
          <a:ln/>
        </p:spPr>
        <p:txBody>
          <a:bodyPr wrap="square" lIns="0" tIns="0" rIns="0" bIns="0" rtlCol="0" anchor="ctr"/>
          <a:lstStyle/>
          <a:p>
            <a:pPr indent="0" marL="0">
              <a:buNone/>
            </a:pPr>
            <a:r>
              <a:rPr lang="en-US" sz="1400" b="1" dirty="0">
                <a:solidFill>
                  <a:schemeClr val="accent1"/>
                </a:solidFill>
              </a:rPr>
              <a:t>JavaScript</a:t>
            </a:r>
            <a:endParaRPr lang="en-US" sz="1400" dirty="0"/>
          </a:p>
          <a:p>
            <a:pPr indent="0" marL="0">
              <a:buNone/>
            </a:pPr>
            <a:r>
              <a:rPr lang="en-US" sz="1200" dirty="0">
                <a:solidFill>
                  <a:schemeClr val="bg1"/>
                </a:solidFill>
              </a:rPr>
              <a:t>Interactions, logic</a:t>
            </a:r>
            <a:endParaRPr lang="en-US" sz="1400" dirty="0"/>
          </a:p>
        </p:txBody>
      </p:sp>
      <p:sp>
        <p:nvSpPr>
          <p:cNvPr id="40" name="Stack chip 4"/>
          <p:cNvSpPr/>
          <p:nvPr/>
        </p:nvSpPr>
        <p:spPr>
          <a:xfrm>
            <a:off x="6766560" y="3931920"/>
            <a:ext cx="1920240" cy="685800"/>
          </a:xfrm>
          <a:prstGeom prst="roundRect">
            <a:avLst>
              <a:gd name="adj" fmla="val 13333"/>
            </a:avLst>
          </a:prstGeom>
          <a:solidFill>
            <a:schemeClr val="tx1"/>
          </a:solidFill>
          <a:ln w="12700">
            <a:solidFill>
              <a:schemeClr val="tx1"/>
            </a:solidFill>
            <a:prstDash val="solid"/>
          </a:ln>
        </p:spPr>
      </p:sp>
      <p:pic>
        <p:nvPicPr>
          <p:cNvPr id="41" name="Stack icon 4" descr="Web browser icon">    </p:cNvPr>
          <p:cNvPicPr>
            <a:picLocks noChangeAspect="1"/>
          </p:cNvPicPr>
          <p:nvPr/>
        </p:nvPicPr>
        <p:blipFill>
          <a:blip r:embed="rId9"/>
          <a:stretch>
            <a:fillRect/>
          </a:stretch>
        </p:blipFill>
        <p:spPr>
          <a:xfrm>
            <a:off x="6903720" y="4087368"/>
            <a:ext cx="365760" cy="365760"/>
          </a:xfrm>
          <a:prstGeom prst="rect">
            <a:avLst/>
          </a:prstGeom>
        </p:spPr>
      </p:pic>
      <p:sp>
        <p:nvSpPr>
          <p:cNvPr id="42" name="Stack text 4"/>
          <p:cNvSpPr txBox="1"/>
          <p:nvPr/>
        </p:nvSpPr>
        <p:spPr>
          <a:xfrm>
            <a:off x="7360920" y="4005072"/>
            <a:ext cx="1280160" cy="548640"/>
          </a:xfrm>
          <a:prstGeom prst="rect">
            <a:avLst/>
          </a:prstGeom>
          <a:noFill/>
          <a:ln/>
        </p:spPr>
        <p:txBody>
          <a:bodyPr wrap="square" lIns="0" tIns="0" rIns="0" bIns="0" rtlCol="0" anchor="ctr"/>
          <a:lstStyle/>
          <a:p>
            <a:pPr indent="0" marL="0">
              <a:buNone/>
            </a:pPr>
            <a:r>
              <a:rPr lang="en-US" sz="1400" b="1" dirty="0">
                <a:solidFill>
                  <a:schemeClr val="accent1"/>
                </a:solidFill>
              </a:rPr>
              <a:t>Web browser</a:t>
            </a:r>
            <a:endParaRPr lang="en-US" sz="1400" dirty="0"/>
          </a:p>
          <a:p>
            <a:pPr indent="0" marL="0">
              <a:buNone/>
            </a:pPr>
            <a:r>
              <a:rPr lang="en-US" sz="1200" dirty="0">
                <a:solidFill>
                  <a:schemeClr val="bg1"/>
                </a:solidFill>
              </a:rPr>
              <a:t>Runs the frontend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Live Demo</a:t>
            </a:r>
            <a:endParaRPr lang="en-US" sz="3400" dirty="0"/>
          </a:p>
        </p:txBody>
      </p:sp>
      <p:sp>
        <p:nvSpPr>
          <p:cNvPr id="3" name="Browser frame"/>
          <p:cNvSpPr/>
          <p:nvPr/>
        </p:nvSpPr>
        <p:spPr>
          <a:xfrm>
            <a:off x="457200" y="1188720"/>
            <a:ext cx="3931920" cy="3383280"/>
          </a:xfrm>
          <a:prstGeom prst="roundRect">
            <a:avLst>
              <a:gd name="adj" fmla="val 2703"/>
            </a:avLst>
          </a:prstGeom>
          <a:solidFill>
            <a:schemeClr val="bg2"/>
          </a:solidFill>
          <a:ln w="19050">
            <a:solidFill>
              <a:schemeClr val="tx1"/>
            </a:solidFill>
            <a:prstDash val="solid"/>
          </a:ln>
        </p:spPr>
      </p:sp>
      <p:sp>
        <p:nvSpPr>
          <p:cNvPr id="4" name="Address bar"/>
          <p:cNvSpPr/>
          <p:nvPr/>
        </p:nvSpPr>
        <p:spPr>
          <a:xfrm>
            <a:off x="457200" y="1188720"/>
            <a:ext cx="3931920" cy="365760"/>
          </a:xfrm>
          <a:prstGeom prst="roundRect">
            <a:avLst>
              <a:gd name="adj" fmla="val 25000"/>
            </a:avLst>
          </a:prstGeom>
          <a:solidFill>
            <a:schemeClr val="tx1"/>
          </a:solidFill>
          <a:ln w="12700">
            <a:solidFill>
              <a:schemeClr val="tx1"/>
            </a:solidFill>
            <a:prstDash val="solid"/>
          </a:ln>
        </p:spPr>
      </p:sp>
      <p:sp>
        <p:nvSpPr>
          <p:cNvPr id="5" name="Address text"/>
          <p:cNvSpPr txBox="1"/>
          <p:nvPr/>
        </p:nvSpPr>
        <p:spPr>
          <a:xfrm>
            <a:off x="640080" y="1188720"/>
            <a:ext cx="3566160" cy="365760"/>
          </a:xfrm>
          <a:prstGeom prst="rect">
            <a:avLst/>
          </a:prstGeom>
          <a:noFill/>
          <a:ln/>
        </p:spPr>
        <p:txBody>
          <a:bodyPr wrap="square" lIns="0" tIns="0" rIns="0" bIns="0" rtlCol="0" anchor="ctr"/>
          <a:lstStyle/>
          <a:p>
            <a:pPr indent="0" marL="0">
              <a:buNone/>
            </a:pPr>
            <a:r>
              <a:rPr lang="en-US" sz="1100" dirty="0">
                <a:solidFill>
                  <a:schemeClr val="bg1"/>
                </a:solidFill>
              </a:rPr>
              <a:t>smiling-coder.github.io/NammaTripAI</a:t>
            </a:r>
            <a:endParaRPr lang="en-US" sz="1100" dirty="0"/>
          </a:p>
        </p:txBody>
      </p:sp>
      <p:pic>
        <p:nvPicPr>
          <p:cNvPr id="6" name="Live site screenshot" descr="Screenshot of the NammaTrip AI live website on a phone">    </p:cNvPr>
          <p:cNvPicPr>
            <a:picLocks noChangeAspect="1"/>
          </p:cNvPicPr>
          <p:nvPr/>
        </p:nvPicPr>
        <p:blipFill>
          <a:blip r:embed="rId1"/>
          <a:stretch>
            <a:fillRect/>
          </a:stretch>
        </p:blipFill>
        <p:spPr>
          <a:xfrm>
            <a:off x="1737360" y="1691640"/>
            <a:ext cx="1371600" cy="2532888"/>
          </a:xfrm>
          <a:prstGeom prst="rect">
            <a:avLst/>
          </a:prstGeom>
        </p:spPr>
      </p:pic>
      <p:sp>
        <p:nvSpPr>
          <p:cNvPr id="7" name="Screenshot caption"/>
          <p:cNvSpPr txBox="1"/>
          <p:nvPr/>
        </p:nvSpPr>
        <p:spPr>
          <a:xfrm>
            <a:off x="640080" y="4279392"/>
            <a:ext cx="3566160" cy="256032"/>
          </a:xfrm>
          <a:prstGeom prst="rect">
            <a:avLst/>
          </a:prstGeom>
          <a:noFill/>
          <a:ln/>
        </p:spPr>
        <p:txBody>
          <a:bodyPr wrap="square" lIns="0" tIns="0" rIns="0" bIns="0" rtlCol="0" anchor="t"/>
          <a:lstStyle/>
          <a:p>
            <a:pPr algn="ctr" indent="0" marL="0">
              <a:buNone/>
            </a:pPr>
            <a:r>
              <a:rPr lang="en-US" sz="1200" dirty="0">
                <a:solidFill>
                  <a:schemeClr val="tx2"/>
                </a:solidFill>
              </a:rPr>
              <a:t>Live site on a phone</a:t>
            </a:r>
            <a:endParaRPr lang="en-US" sz="1200" dirty="0"/>
          </a:p>
        </p:txBody>
      </p:sp>
      <p:sp>
        <p:nvSpPr>
          <p:cNvPr id="8" name="Link icon 1 circle"/>
          <p:cNvSpPr/>
          <p:nvPr/>
        </p:nvSpPr>
        <p:spPr>
          <a:xfrm>
            <a:off x="4663440" y="1216152"/>
            <a:ext cx="420624" cy="420624"/>
          </a:xfrm>
          <a:prstGeom prst="ellipse">
            <a:avLst/>
          </a:prstGeom>
          <a:solidFill>
            <a:schemeClr val="tx1"/>
          </a:solidFill>
          <a:ln w="12700">
            <a:solidFill>
              <a:schemeClr val="tx1"/>
            </a:solidFill>
            <a:prstDash val="solid"/>
          </a:ln>
        </p:spPr>
      </p:sp>
      <p:pic>
        <p:nvPicPr>
          <p:cNvPr id="9" name="Link icon 1" descr="Link icon 1">    </p:cNvPr>
          <p:cNvPicPr>
            <a:picLocks noChangeAspect="1"/>
          </p:cNvPicPr>
          <p:nvPr/>
        </p:nvPicPr>
        <p:blipFill>
          <a:blip r:embed="rId2"/>
          <a:stretch>
            <a:fillRect/>
          </a:stretch>
        </p:blipFill>
        <p:spPr>
          <a:xfrm>
            <a:off x="4772802" y="1325514"/>
            <a:ext cx="201900" cy="201900"/>
          </a:xfrm>
          <a:prstGeom prst="rect">
            <a:avLst/>
          </a:prstGeom>
        </p:spPr>
      </p:pic>
      <p:sp>
        <p:nvSpPr>
          <p:cNvPr id="10" name="Link label 1"/>
          <p:cNvSpPr txBox="1"/>
          <p:nvPr/>
        </p:nvSpPr>
        <p:spPr>
          <a:xfrm>
            <a:off x="5212080" y="1188720"/>
            <a:ext cx="3474720" cy="219456"/>
          </a:xfrm>
          <a:prstGeom prst="rect">
            <a:avLst/>
          </a:prstGeom>
          <a:noFill/>
          <a:ln/>
        </p:spPr>
        <p:txBody>
          <a:bodyPr wrap="square" lIns="0" tIns="0" rIns="0" bIns="0" rtlCol="0" anchor="t"/>
          <a:lstStyle/>
          <a:p>
            <a:pPr indent="0" marL="0">
              <a:buNone/>
            </a:pPr>
            <a:r>
              <a:rPr lang="en-US" sz="1200" b="1" dirty="0">
                <a:solidFill>
                  <a:schemeClr val="accent2"/>
                </a:solidFill>
              </a:rPr>
              <a:t>Live project</a:t>
            </a:r>
            <a:endParaRPr lang="en-US" sz="1200" dirty="0"/>
          </a:p>
        </p:txBody>
      </p:sp>
      <p:sp>
        <p:nvSpPr>
          <p:cNvPr id="11" name="Link url 1"/>
          <p:cNvSpPr txBox="1"/>
          <p:nvPr/>
        </p:nvSpPr>
        <p:spPr>
          <a:xfrm>
            <a:off x="5212080" y="1408176"/>
            <a:ext cx="3474720" cy="256032"/>
          </a:xfrm>
          <a:prstGeom prst="rect">
            <a:avLst/>
          </a:prstGeom>
          <a:noFill/>
          <a:ln/>
        </p:spPr>
        <p:txBody>
          <a:bodyPr wrap="square" lIns="0" tIns="0" rIns="0" bIns="0" rtlCol="0" anchor="t"/>
          <a:lstStyle/>
          <a:p>
            <a:pPr indent="0" marL="0">
              <a:buNone/>
            </a:pPr>
            <a:r>
              <a:rPr lang="en-US" sz="1200" u="sng" dirty="0">
                <a:solidFill>
                  <a:schemeClr val="accent3"/>
                </a:solidFill>
                <a:hlinkClick r:id="rId3" invalidUrl="" action="" tgtFrame="" tooltip="" history="1" highlightClick="0" endSnd="0">
                  <a:extLst>
                    <a:ext uri="{A12FA001-AC4F-418D-AE19-62706E023703}">
                      <ahyp:hlinkClr xmlns:ahyp="http://schemas.microsoft.com/office/drawing/2018/hyperlinkcolor" val="tx"/>
                    </a:ext>
                  </a:extLst>
                </a:hlinkClick>
              </a:rPr>
              <a:t>https://smiling-coder.github.io/NammaTripAI/</a:t>
            </a:r>
            <a:endParaRPr lang="en-US" sz="1200" dirty="0"/>
          </a:p>
        </p:txBody>
      </p:sp>
      <p:sp>
        <p:nvSpPr>
          <p:cNvPr id="12" name="Link icon 2 circle"/>
          <p:cNvSpPr/>
          <p:nvPr/>
        </p:nvSpPr>
        <p:spPr>
          <a:xfrm>
            <a:off x="4663440" y="1783080"/>
            <a:ext cx="420624" cy="420624"/>
          </a:xfrm>
          <a:prstGeom prst="ellipse">
            <a:avLst/>
          </a:prstGeom>
          <a:solidFill>
            <a:schemeClr val="tx1"/>
          </a:solidFill>
          <a:ln w="12700">
            <a:solidFill>
              <a:schemeClr val="tx1"/>
            </a:solidFill>
            <a:prstDash val="solid"/>
          </a:ln>
        </p:spPr>
      </p:sp>
      <p:pic>
        <p:nvPicPr>
          <p:cNvPr id="13" name="Link icon 2" descr="Link icon 2">    </p:cNvPr>
          <p:cNvPicPr>
            <a:picLocks noChangeAspect="1"/>
          </p:cNvPicPr>
          <p:nvPr/>
        </p:nvPicPr>
        <p:blipFill>
          <a:blip r:embed="rId4"/>
          <a:stretch>
            <a:fillRect/>
          </a:stretch>
        </p:blipFill>
        <p:spPr>
          <a:xfrm>
            <a:off x="4772802" y="1892442"/>
            <a:ext cx="201900" cy="201900"/>
          </a:xfrm>
          <a:prstGeom prst="rect">
            <a:avLst/>
          </a:prstGeom>
        </p:spPr>
      </p:pic>
      <p:sp>
        <p:nvSpPr>
          <p:cNvPr id="14" name="Link label 2"/>
          <p:cNvSpPr txBox="1"/>
          <p:nvPr/>
        </p:nvSpPr>
        <p:spPr>
          <a:xfrm>
            <a:off x="5212080" y="1755648"/>
            <a:ext cx="3474720" cy="219456"/>
          </a:xfrm>
          <a:prstGeom prst="rect">
            <a:avLst/>
          </a:prstGeom>
          <a:noFill/>
          <a:ln/>
        </p:spPr>
        <p:txBody>
          <a:bodyPr wrap="square" lIns="0" tIns="0" rIns="0" bIns="0" rtlCol="0" anchor="t"/>
          <a:lstStyle/>
          <a:p>
            <a:pPr indent="0" marL="0">
              <a:buNone/>
            </a:pPr>
            <a:r>
              <a:rPr lang="en-US" sz="1200" b="1" dirty="0">
                <a:solidFill>
                  <a:schemeClr val="accent2"/>
                </a:solidFill>
              </a:rPr>
              <a:t>GitHub profile</a:t>
            </a:r>
            <a:endParaRPr lang="en-US" sz="1200" dirty="0"/>
          </a:p>
        </p:txBody>
      </p:sp>
      <p:sp>
        <p:nvSpPr>
          <p:cNvPr id="15" name="Link url 2"/>
          <p:cNvSpPr txBox="1"/>
          <p:nvPr/>
        </p:nvSpPr>
        <p:spPr>
          <a:xfrm>
            <a:off x="5212080" y="1975104"/>
            <a:ext cx="3474720" cy="256032"/>
          </a:xfrm>
          <a:prstGeom prst="rect">
            <a:avLst/>
          </a:prstGeom>
          <a:noFill/>
          <a:ln/>
        </p:spPr>
        <p:txBody>
          <a:bodyPr wrap="square" lIns="0" tIns="0" rIns="0" bIns="0" rtlCol="0" anchor="t"/>
          <a:lstStyle/>
          <a:p>
            <a:pPr indent="0" marL="0">
              <a:buNone/>
            </a:pPr>
            <a:r>
              <a:rPr lang="en-US" sz="1200" u="sng" dirty="0">
                <a:solidFill>
                  <a:schemeClr val="accent3"/>
                </a:solidFill>
                <a:hlinkClick r:id="rId5" invalidUrl="" action="" tgtFrame="" tooltip="" history="1" highlightClick="0" endSnd="0">
                  <a:extLst>
                    <a:ext uri="{A12FA001-AC4F-418D-AE19-62706E023703}">
                      <ahyp:hlinkClr xmlns:ahyp="http://schemas.microsoft.com/office/drawing/2018/hyperlinkcolor" val="tx"/>
                    </a:ext>
                  </a:extLst>
                </a:hlinkClick>
              </a:rPr>
              <a:t>https://github.com/smiling-coder</a:t>
            </a:r>
            <a:endParaRPr lang="en-US" sz="1200" dirty="0"/>
          </a:p>
        </p:txBody>
      </p:sp>
      <p:sp>
        <p:nvSpPr>
          <p:cNvPr id="16" name="Link icon 3 circle"/>
          <p:cNvSpPr/>
          <p:nvPr/>
        </p:nvSpPr>
        <p:spPr>
          <a:xfrm>
            <a:off x="4663440" y="2350008"/>
            <a:ext cx="420624" cy="420624"/>
          </a:xfrm>
          <a:prstGeom prst="ellipse">
            <a:avLst/>
          </a:prstGeom>
          <a:solidFill>
            <a:schemeClr val="tx1"/>
          </a:solidFill>
          <a:ln w="12700">
            <a:solidFill>
              <a:schemeClr val="tx1"/>
            </a:solidFill>
            <a:prstDash val="solid"/>
          </a:ln>
        </p:spPr>
      </p:sp>
      <p:pic>
        <p:nvPicPr>
          <p:cNvPr id="17" name="Link icon 3" descr="Link icon 3">    </p:cNvPr>
          <p:cNvPicPr>
            <a:picLocks noChangeAspect="1"/>
          </p:cNvPicPr>
          <p:nvPr/>
        </p:nvPicPr>
        <p:blipFill>
          <a:blip r:embed="rId6"/>
          <a:stretch>
            <a:fillRect/>
          </a:stretch>
        </p:blipFill>
        <p:spPr>
          <a:xfrm>
            <a:off x="4772802" y="2459370"/>
            <a:ext cx="201900" cy="201900"/>
          </a:xfrm>
          <a:prstGeom prst="rect">
            <a:avLst/>
          </a:prstGeom>
        </p:spPr>
      </p:pic>
      <p:sp>
        <p:nvSpPr>
          <p:cNvPr id="18" name="Link label 3"/>
          <p:cNvSpPr txBox="1"/>
          <p:nvPr/>
        </p:nvSpPr>
        <p:spPr>
          <a:xfrm>
            <a:off x="5212080" y="2322576"/>
            <a:ext cx="3474720" cy="219456"/>
          </a:xfrm>
          <a:prstGeom prst="rect">
            <a:avLst/>
          </a:prstGeom>
          <a:noFill/>
          <a:ln/>
        </p:spPr>
        <p:txBody>
          <a:bodyPr wrap="square" lIns="0" tIns="0" rIns="0" bIns="0" rtlCol="0" anchor="t"/>
          <a:lstStyle/>
          <a:p>
            <a:pPr indent="0" marL="0">
              <a:buNone/>
            </a:pPr>
            <a:r>
              <a:rPr lang="en-US" sz="1200" b="1" dirty="0">
                <a:solidFill>
                  <a:schemeClr val="accent2"/>
                </a:solidFill>
              </a:rPr>
              <a:t>Repository</a:t>
            </a:r>
            <a:endParaRPr lang="en-US" sz="1200" dirty="0"/>
          </a:p>
        </p:txBody>
      </p:sp>
      <p:sp>
        <p:nvSpPr>
          <p:cNvPr id="19" name="Link url 3"/>
          <p:cNvSpPr txBox="1"/>
          <p:nvPr/>
        </p:nvSpPr>
        <p:spPr>
          <a:xfrm>
            <a:off x="5212080" y="2542032"/>
            <a:ext cx="3474720" cy="256032"/>
          </a:xfrm>
          <a:prstGeom prst="rect">
            <a:avLst/>
          </a:prstGeom>
          <a:noFill/>
          <a:ln/>
        </p:spPr>
        <p:txBody>
          <a:bodyPr wrap="square" lIns="0" tIns="0" rIns="0" bIns="0" rtlCol="0" anchor="t"/>
          <a:lstStyle/>
          <a:p>
            <a:pPr indent="0" marL="0">
              <a:buNone/>
            </a:pPr>
            <a:r>
              <a:rPr lang="en-US" sz="1200" u="sng" dirty="0">
                <a:solidFill>
                  <a:schemeClr val="accent3"/>
                </a:solidFill>
                <a:hlinkClick r:id="rId7" invalidUrl="" action="" tgtFrame="" tooltip="" history="1" highlightClick="0" endSnd="0">
                  <a:extLst>
                    <a:ext uri="{A12FA001-AC4F-418D-AE19-62706E023703}">
                      <ahyp:hlinkClr xmlns:ahyp="http://schemas.microsoft.com/office/drawing/2018/hyperlinkcolor" val="tx"/>
                    </a:ext>
                  </a:extLst>
                </a:hlinkClick>
              </a:rPr>
              <a:t>https://github.com/smiling-coder/NammaTripAI</a:t>
            </a:r>
            <a:endParaRPr lang="en-US" sz="1200" dirty="0"/>
          </a:p>
        </p:txBody>
      </p:sp>
      <p:sp>
        <p:nvSpPr>
          <p:cNvPr id="20" name="Demo heading"/>
          <p:cNvSpPr txBox="1"/>
          <p:nvPr/>
        </p:nvSpPr>
        <p:spPr>
          <a:xfrm>
            <a:off x="4663440" y="2971800"/>
            <a:ext cx="4023360" cy="292608"/>
          </a:xfrm>
          <a:prstGeom prst="rect">
            <a:avLst/>
          </a:prstGeom>
          <a:noFill/>
          <a:ln/>
        </p:spPr>
        <p:txBody>
          <a:bodyPr wrap="square" lIns="0" tIns="0" rIns="0" bIns="0" rtlCol="0" anchor="t"/>
          <a:lstStyle/>
          <a:p>
            <a:pPr indent="0" marL="0">
              <a:buNone/>
            </a:pPr>
            <a:r>
              <a:rPr lang="en-US" sz="1700" b="1" dirty="0">
                <a:solidFill>
                  <a:schemeClr val="tx1"/>
                </a:solidFill>
              </a:rPr>
              <a:t>Demo flow</a:t>
            </a:r>
            <a:endParaRPr lang="en-US" sz="1700" dirty="0"/>
          </a:p>
        </p:txBody>
      </p:sp>
      <p:sp>
        <p:nvSpPr>
          <p:cNvPr id="21" name="Flow circle 1"/>
          <p:cNvSpPr/>
          <p:nvPr/>
        </p:nvSpPr>
        <p:spPr>
          <a:xfrm>
            <a:off x="4663440" y="3328416"/>
            <a:ext cx="219456" cy="219456"/>
          </a:xfrm>
          <a:prstGeom prst="ellipse">
            <a:avLst/>
          </a:prstGeom>
          <a:solidFill>
            <a:schemeClr val="accent1"/>
          </a:solidFill>
          <a:ln w="12700">
            <a:solidFill>
              <a:schemeClr val="accent1"/>
            </a:solidFill>
            <a:prstDash val="solid"/>
          </a:ln>
        </p:spPr>
      </p:sp>
      <p:sp>
        <p:nvSpPr>
          <p:cNvPr id="22" name="Flow number 1"/>
          <p:cNvSpPr txBox="1"/>
          <p:nvPr/>
        </p:nvSpPr>
        <p:spPr>
          <a:xfrm>
            <a:off x="4663440" y="3328416"/>
            <a:ext cx="219456" cy="219456"/>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23" name="Flow step 1"/>
          <p:cNvSpPr txBox="1"/>
          <p:nvPr/>
        </p:nvSpPr>
        <p:spPr>
          <a:xfrm>
            <a:off x="5029200" y="3310128"/>
            <a:ext cx="3657600" cy="256032"/>
          </a:xfrm>
          <a:prstGeom prst="rect">
            <a:avLst/>
          </a:prstGeom>
          <a:noFill/>
          <a:ln/>
        </p:spPr>
        <p:txBody>
          <a:bodyPr wrap="square" lIns="0" tIns="0" rIns="0" bIns="0" rtlCol="0" anchor="ctr"/>
          <a:lstStyle/>
          <a:p>
            <a:pPr indent="0" marL="0">
              <a:buNone/>
            </a:pPr>
            <a:r>
              <a:rPr lang="en-US" sz="1400" dirty="0">
                <a:solidFill>
                  <a:schemeClr val="tx1"/>
                </a:solidFill>
              </a:rPr>
              <a:t>Open the site and show the interface</a:t>
            </a:r>
            <a:endParaRPr lang="en-US" sz="1400" dirty="0"/>
          </a:p>
        </p:txBody>
      </p:sp>
      <p:sp>
        <p:nvSpPr>
          <p:cNvPr id="24" name="Flow circle 2"/>
          <p:cNvSpPr/>
          <p:nvPr/>
        </p:nvSpPr>
        <p:spPr>
          <a:xfrm>
            <a:off x="4663440" y="3602736"/>
            <a:ext cx="219456" cy="219456"/>
          </a:xfrm>
          <a:prstGeom prst="ellipse">
            <a:avLst/>
          </a:prstGeom>
          <a:solidFill>
            <a:schemeClr val="accent1"/>
          </a:solidFill>
          <a:ln w="12700">
            <a:solidFill>
              <a:schemeClr val="accent1"/>
            </a:solidFill>
            <a:prstDash val="solid"/>
          </a:ln>
        </p:spPr>
      </p:sp>
      <p:sp>
        <p:nvSpPr>
          <p:cNvPr id="25" name="Flow number 2"/>
          <p:cNvSpPr txBox="1"/>
          <p:nvPr/>
        </p:nvSpPr>
        <p:spPr>
          <a:xfrm>
            <a:off x="4663440" y="3602736"/>
            <a:ext cx="219456" cy="219456"/>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26" name="Flow step 2"/>
          <p:cNvSpPr txBox="1"/>
          <p:nvPr/>
        </p:nvSpPr>
        <p:spPr>
          <a:xfrm>
            <a:off x="5029200" y="3584448"/>
            <a:ext cx="3657600" cy="256032"/>
          </a:xfrm>
          <a:prstGeom prst="rect">
            <a:avLst/>
          </a:prstGeom>
          <a:noFill/>
          <a:ln/>
        </p:spPr>
        <p:txBody>
          <a:bodyPr wrap="square" lIns="0" tIns="0" rIns="0" bIns="0" rtlCol="0" anchor="ctr"/>
          <a:lstStyle/>
          <a:p>
            <a:pPr indent="0" marL="0">
              <a:buNone/>
            </a:pPr>
            <a:r>
              <a:rPr lang="en-US" sz="1400" dirty="0">
                <a:solidFill>
                  <a:schemeClr val="tx1"/>
                </a:solidFill>
              </a:rPr>
              <a:t>Enter budget, days and interests</a:t>
            </a:r>
            <a:endParaRPr lang="en-US" sz="1400" dirty="0"/>
          </a:p>
        </p:txBody>
      </p:sp>
      <p:sp>
        <p:nvSpPr>
          <p:cNvPr id="27" name="Flow circle 3"/>
          <p:cNvSpPr/>
          <p:nvPr/>
        </p:nvSpPr>
        <p:spPr>
          <a:xfrm>
            <a:off x="4663440" y="3877056"/>
            <a:ext cx="219456" cy="219456"/>
          </a:xfrm>
          <a:prstGeom prst="ellipse">
            <a:avLst/>
          </a:prstGeom>
          <a:solidFill>
            <a:schemeClr val="accent1"/>
          </a:solidFill>
          <a:ln w="12700">
            <a:solidFill>
              <a:schemeClr val="accent1"/>
            </a:solidFill>
            <a:prstDash val="solid"/>
          </a:ln>
        </p:spPr>
      </p:sp>
      <p:sp>
        <p:nvSpPr>
          <p:cNvPr id="28" name="Flow number 3"/>
          <p:cNvSpPr txBox="1"/>
          <p:nvPr/>
        </p:nvSpPr>
        <p:spPr>
          <a:xfrm>
            <a:off x="4663440" y="3877056"/>
            <a:ext cx="219456" cy="219456"/>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9" name="Flow step 3"/>
          <p:cNvSpPr txBox="1"/>
          <p:nvPr/>
        </p:nvSpPr>
        <p:spPr>
          <a:xfrm>
            <a:off x="5029200" y="3858768"/>
            <a:ext cx="3657600" cy="256032"/>
          </a:xfrm>
          <a:prstGeom prst="rect">
            <a:avLst/>
          </a:prstGeom>
          <a:noFill/>
          <a:ln/>
        </p:spPr>
        <p:txBody>
          <a:bodyPr wrap="square" lIns="0" tIns="0" rIns="0" bIns="0" rtlCol="0" anchor="ctr"/>
          <a:lstStyle/>
          <a:p>
            <a:pPr indent="0" marL="0">
              <a:buNone/>
            </a:pPr>
            <a:r>
              <a:rPr lang="en-US" sz="1400" dirty="0">
                <a:solidFill>
                  <a:schemeClr val="tx1"/>
                </a:solidFill>
              </a:rPr>
              <a:t>Press “Create my plan”</a:t>
            </a:r>
            <a:endParaRPr lang="en-US" sz="1400" dirty="0"/>
          </a:p>
        </p:txBody>
      </p:sp>
      <p:sp>
        <p:nvSpPr>
          <p:cNvPr id="30" name="Flow circle 4"/>
          <p:cNvSpPr/>
          <p:nvPr/>
        </p:nvSpPr>
        <p:spPr>
          <a:xfrm>
            <a:off x="4663440" y="4151376"/>
            <a:ext cx="219456" cy="219456"/>
          </a:xfrm>
          <a:prstGeom prst="ellipse">
            <a:avLst/>
          </a:prstGeom>
          <a:solidFill>
            <a:schemeClr val="accent1"/>
          </a:solidFill>
          <a:ln w="12700">
            <a:solidFill>
              <a:schemeClr val="accent1"/>
            </a:solidFill>
            <a:prstDash val="solid"/>
          </a:ln>
        </p:spPr>
      </p:sp>
      <p:sp>
        <p:nvSpPr>
          <p:cNvPr id="31" name="Flow number 4"/>
          <p:cNvSpPr txBox="1"/>
          <p:nvPr/>
        </p:nvSpPr>
        <p:spPr>
          <a:xfrm>
            <a:off x="4663440" y="4151376"/>
            <a:ext cx="219456" cy="219456"/>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2" name="Flow step 4"/>
          <p:cNvSpPr txBox="1"/>
          <p:nvPr/>
        </p:nvSpPr>
        <p:spPr>
          <a:xfrm>
            <a:off x="5029200" y="4133088"/>
            <a:ext cx="3657600" cy="256032"/>
          </a:xfrm>
          <a:prstGeom prst="rect">
            <a:avLst/>
          </a:prstGeom>
          <a:noFill/>
          <a:ln/>
        </p:spPr>
        <p:txBody>
          <a:bodyPr wrap="square" lIns="0" tIns="0" rIns="0" bIns="0" rtlCol="0" anchor="ctr"/>
          <a:lstStyle/>
          <a:p>
            <a:pPr indent="0" marL="0">
              <a:buNone/>
            </a:pPr>
            <a:r>
              <a:rPr lang="en-US" sz="1400" dirty="0">
                <a:solidFill>
                  <a:schemeClr val="tx1"/>
                </a:solidFill>
              </a:rPr>
              <a:t>Show the day plan and budget split</a:t>
            </a:r>
            <a:endParaRPr lang="en-US" sz="1400" dirty="0"/>
          </a:p>
        </p:txBody>
      </p:sp>
      <p:sp>
        <p:nvSpPr>
          <p:cNvPr id="33" name="Flow circle 5"/>
          <p:cNvSpPr/>
          <p:nvPr/>
        </p:nvSpPr>
        <p:spPr>
          <a:xfrm>
            <a:off x="4663440" y="4425696"/>
            <a:ext cx="219456" cy="219456"/>
          </a:xfrm>
          <a:prstGeom prst="ellipse">
            <a:avLst/>
          </a:prstGeom>
          <a:solidFill>
            <a:schemeClr val="accent1"/>
          </a:solidFill>
          <a:ln w="12700">
            <a:solidFill>
              <a:schemeClr val="accent1"/>
            </a:solidFill>
            <a:prstDash val="solid"/>
          </a:ln>
        </p:spPr>
      </p:sp>
      <p:sp>
        <p:nvSpPr>
          <p:cNvPr id="34" name="Flow number 5"/>
          <p:cNvSpPr txBox="1"/>
          <p:nvPr/>
        </p:nvSpPr>
        <p:spPr>
          <a:xfrm>
            <a:off x="4663440" y="4425696"/>
            <a:ext cx="219456" cy="219456"/>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35" name="Flow step 5"/>
          <p:cNvSpPr txBox="1"/>
          <p:nvPr/>
        </p:nvSpPr>
        <p:spPr>
          <a:xfrm>
            <a:off x="5029200" y="4407408"/>
            <a:ext cx="3657600" cy="256032"/>
          </a:xfrm>
          <a:prstGeom prst="rect">
            <a:avLst/>
          </a:prstGeom>
          <a:noFill/>
          <a:ln/>
        </p:spPr>
        <p:txBody>
          <a:bodyPr wrap="square" lIns="0" tIns="0" rIns="0" bIns="0" rtlCol="0" anchor="ctr"/>
          <a:lstStyle/>
          <a:p>
            <a:pPr indent="0" marL="0">
              <a:buNone/>
            </a:pPr>
            <a:r>
              <a:rPr lang="en-US" sz="1400" dirty="0">
                <a:solidFill>
                  <a:schemeClr val="tx1"/>
                </a:solidFill>
              </a:rPr>
              <a:t>Open a destination map link</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bg1"/>
                </a:solidFill>
              </a:rPr>
              <a:t>Conclusion &amp; Future Scope</a:t>
            </a:r>
            <a:endParaRPr lang="en-US" sz="3400" dirty="0"/>
          </a:p>
        </p:txBody>
      </p:sp>
      <p:sp>
        <p:nvSpPr>
          <p:cNvPr id="3" name="Summary"/>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600" dirty="0">
                <a:solidFill>
                  <a:schemeClr val="bg1"/>
                </a:solidFill>
              </a:rPr>
              <a:t>NammaTrip AI aims to make Karnataka trip planning easier, more accessible and Kannada-friendly.</a:t>
            </a:r>
            <a:endParaRPr lang="en-US" sz="1600" dirty="0"/>
          </a:p>
        </p:txBody>
      </p:sp>
      <p:sp>
        <p:nvSpPr>
          <p:cNvPr id="4" name="Limitations card"/>
          <p:cNvSpPr/>
          <p:nvPr/>
        </p:nvSpPr>
        <p:spPr>
          <a:xfrm>
            <a:off x="457200" y="1691640"/>
            <a:ext cx="4023360" cy="2011680"/>
          </a:xfrm>
          <a:prstGeom prst="roundRect">
            <a:avLst>
              <a:gd name="adj" fmla="val 5455"/>
            </a:avLst>
          </a:prstGeom>
          <a:solidFill>
            <a:schemeClr val="tx2"/>
          </a:solidFill>
          <a:ln w="12700">
            <a:solidFill>
              <a:schemeClr val="tx2"/>
            </a:solidFill>
            <a:prstDash val="solid"/>
          </a:ln>
        </p:spPr>
      </p:sp>
      <p:sp>
        <p:nvSpPr>
          <p:cNvPr id="5" name="Future card"/>
          <p:cNvSpPr/>
          <p:nvPr/>
        </p:nvSpPr>
        <p:spPr>
          <a:xfrm>
            <a:off x="4663440" y="1691640"/>
            <a:ext cx="4023360" cy="2011680"/>
          </a:xfrm>
          <a:prstGeom prst="roundRect">
            <a:avLst>
              <a:gd name="adj" fmla="val 5455"/>
            </a:avLst>
          </a:prstGeom>
          <a:solidFill>
            <a:schemeClr val="accent2"/>
          </a:solidFill>
          <a:ln w="12700">
            <a:solidFill>
              <a:schemeClr val="accent2"/>
            </a:solidFill>
            <a:prstDash val="solid"/>
          </a:ln>
        </p:spPr>
      </p:sp>
      <p:sp>
        <p:nvSpPr>
          <p:cNvPr id="6" name="Limitations heading"/>
          <p:cNvSpPr txBox="1"/>
          <p:nvPr/>
        </p:nvSpPr>
        <p:spPr>
          <a:xfrm>
            <a:off x="685800" y="1801368"/>
            <a:ext cx="3566160" cy="320040"/>
          </a:xfrm>
          <a:prstGeom prst="rect">
            <a:avLst/>
          </a:prstGeom>
          <a:noFill/>
          <a:ln/>
        </p:spPr>
        <p:txBody>
          <a:bodyPr wrap="square" lIns="0" tIns="0" rIns="0" bIns="0" rtlCol="0" anchor="t"/>
          <a:lstStyle/>
          <a:p>
            <a:pPr indent="0" marL="0">
              <a:buNone/>
            </a:pPr>
            <a:r>
              <a:rPr lang="en-US" sz="1800" b="1" dirty="0">
                <a:solidFill>
                  <a:schemeClr val="accent1"/>
                </a:solidFill>
              </a:rPr>
              <a:t>Current limitations</a:t>
            </a:r>
            <a:endParaRPr lang="en-US" sz="1800" dirty="0"/>
          </a:p>
        </p:txBody>
      </p:sp>
      <p:sp>
        <p:nvSpPr>
          <p:cNvPr id="7" name="Future heading"/>
          <p:cNvSpPr txBox="1"/>
          <p:nvPr/>
        </p:nvSpPr>
        <p:spPr>
          <a:xfrm>
            <a:off x="4892040" y="1801368"/>
            <a:ext cx="3566160" cy="320040"/>
          </a:xfrm>
          <a:prstGeom prst="rect">
            <a:avLst/>
          </a:prstGeom>
          <a:noFill/>
          <a:ln/>
        </p:spPr>
        <p:txBody>
          <a:bodyPr wrap="square" lIns="0" tIns="0" rIns="0" bIns="0" rtlCol="0" anchor="t"/>
          <a:lstStyle/>
          <a:p>
            <a:pPr indent="0" marL="0">
              <a:buNone/>
            </a:pPr>
            <a:r>
              <a:rPr lang="en-US" sz="1800" b="1" dirty="0">
                <a:solidFill>
                  <a:schemeClr val="accent4"/>
                </a:solidFill>
              </a:rPr>
              <a:t>Future scope</a:t>
            </a:r>
            <a:endParaRPr lang="en-US" sz="1800" dirty="0"/>
          </a:p>
        </p:txBody>
      </p:sp>
      <p:sp>
        <p:nvSpPr>
          <p:cNvPr id="8" name="Limitations list"/>
          <p:cNvSpPr txBox="1"/>
          <p:nvPr/>
        </p:nvSpPr>
        <p:spPr>
          <a:xfrm>
            <a:off x="685800" y="2212848"/>
            <a:ext cx="356616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Rule-based, not generative AI</a:t>
            </a:r>
            <a:endParaRPr lang="en-US" sz="1400" dirty="0"/>
          </a:p>
          <a:p>
            <a:pPr marL="342900" indent="-342900">
              <a:spcAft>
                <a:spcPts val="400"/>
              </a:spcAft>
              <a:buSzPct val="100000"/>
              <a:buChar char="•"/>
            </a:pPr>
            <a:r>
              <a:rPr lang="en-US" sz="1400" dirty="0">
                <a:solidFill>
                  <a:schemeClr val="bg1"/>
                </a:solidFill>
              </a:rPr>
              <a:t>13 curated destinations</a:t>
            </a:r>
            <a:endParaRPr lang="en-US" sz="1400" dirty="0"/>
          </a:p>
          <a:p>
            <a:pPr marL="342900" indent="-342900">
              <a:spcAft>
                <a:spcPts val="400"/>
              </a:spcAft>
              <a:buSzPct val="100000"/>
              <a:buChar char="•"/>
            </a:pPr>
            <a:r>
              <a:rPr lang="en-US" sz="1400" dirty="0">
                <a:solidFill>
                  <a:schemeClr val="bg1"/>
                </a:solidFill>
              </a:rPr>
              <a:t>Costs are estimates, not live prices</a:t>
            </a:r>
            <a:endParaRPr lang="en-US" sz="1400" dirty="0"/>
          </a:p>
          <a:p>
            <a:pPr marL="342900" indent="-342900">
              <a:spcAft>
                <a:spcPts val="400"/>
              </a:spcAft>
              <a:buSzPct val="100000"/>
              <a:buChar char="•"/>
            </a:pPr>
            <a:r>
              <a:rPr lang="en-US" sz="1400" dirty="0">
                <a:solidFill>
                  <a:schemeClr val="bg1"/>
                </a:solidFill>
              </a:rPr>
              <a:t>No bookings, weather or backend</a:t>
            </a:r>
            <a:endParaRPr lang="en-US" sz="1400" dirty="0"/>
          </a:p>
        </p:txBody>
      </p:sp>
      <p:sp>
        <p:nvSpPr>
          <p:cNvPr id="9" name="Future list"/>
          <p:cNvSpPr txBox="1"/>
          <p:nvPr/>
        </p:nvSpPr>
        <p:spPr>
          <a:xfrm>
            <a:off x="4892040" y="2212848"/>
            <a:ext cx="356616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Real AI-based itineraries</a:t>
            </a:r>
            <a:endParaRPr lang="en-US" sz="1400" dirty="0"/>
          </a:p>
          <a:p>
            <a:pPr marL="342900" indent="-342900">
              <a:spcAft>
                <a:spcPts val="400"/>
              </a:spcAft>
              <a:buSzPct val="100000"/>
              <a:buChar char="•"/>
            </a:pPr>
            <a:r>
              <a:rPr lang="en-US" sz="1400" dirty="0">
                <a:solidFill>
                  <a:schemeClr val="bg1"/>
                </a:solidFill>
              </a:rPr>
              <a:t>More verified destinations</a:t>
            </a:r>
            <a:endParaRPr lang="en-US" sz="1400" dirty="0"/>
          </a:p>
          <a:p>
            <a:pPr marL="342900" indent="-342900">
              <a:spcAft>
                <a:spcPts val="400"/>
              </a:spcAft>
              <a:buSzPct val="100000"/>
              <a:buChar char="•"/>
            </a:pPr>
            <a:r>
              <a:rPr lang="en-US" sz="1400" dirty="0">
                <a:solidFill>
                  <a:schemeClr val="bg1"/>
                </a:solidFill>
              </a:rPr>
              <a:t>Better costs from reliable data</a:t>
            </a:r>
            <a:endParaRPr lang="en-US" sz="1400" dirty="0"/>
          </a:p>
          <a:p>
            <a:pPr marL="342900" indent="-342900">
              <a:spcAft>
                <a:spcPts val="400"/>
              </a:spcAft>
              <a:buSzPct val="100000"/>
              <a:buChar char="•"/>
            </a:pPr>
            <a:r>
              <a:rPr lang="en-US" sz="1400" dirty="0">
                <a:solidFill>
                  <a:schemeClr val="bg1"/>
                </a:solidFill>
              </a:rPr>
              <a:t>Weather integration</a:t>
            </a:r>
            <a:endParaRPr lang="en-US" sz="1400" dirty="0"/>
          </a:p>
          <a:p>
            <a:pPr marL="342900" indent="-342900">
              <a:spcAft>
                <a:spcPts val="400"/>
              </a:spcAft>
              <a:buSzPct val="100000"/>
              <a:buChar char="•"/>
            </a:pPr>
            <a:r>
              <a:rPr lang="en-US" sz="1400" dirty="0">
                <a:solidFill>
                  <a:schemeClr val="bg1"/>
                </a:solidFill>
              </a:rPr>
              <a:t>Saved trip plans</a:t>
            </a:r>
            <a:endParaRPr lang="en-US" sz="1400" dirty="0"/>
          </a:p>
        </p:txBody>
      </p:sp>
      <p:sp>
        <p:nvSpPr>
          <p:cNvPr id="10" name="Closing tagline"/>
          <p:cNvSpPr txBox="1"/>
          <p:nvPr/>
        </p:nvSpPr>
        <p:spPr>
          <a:xfrm>
            <a:off x="457200" y="3840480"/>
            <a:ext cx="8229600" cy="320040"/>
          </a:xfrm>
          <a:prstGeom prst="rect">
            <a:avLst/>
          </a:prstGeom>
          <a:noFill/>
          <a:ln/>
        </p:spPr>
        <p:txBody>
          <a:bodyPr wrap="square" lIns="0" tIns="0" rIns="0" bIns="0" rtlCol="0" anchor="t"/>
          <a:lstStyle/>
          <a:p>
            <a:pPr algn="ctr" indent="0" marL="0">
              <a:buNone/>
            </a:pPr>
            <a:r>
              <a:rPr lang="en-US" sz="1700" i="1" dirty="0">
                <a:solidFill>
                  <a:schemeClr val="accent1"/>
                </a:solidFill>
              </a:rPr>
              <a:t>“NammaTrip AI — Your Budget. Your Journey. Your Karnataka.”</a:t>
            </a:r>
            <a:endParaRPr lang="en-US" sz="1700" dirty="0"/>
          </a:p>
        </p:txBody>
      </p:sp>
      <p:sp>
        <p:nvSpPr>
          <p:cNvPr id="11" name="Thank you"/>
          <p:cNvSpPr txBox="1"/>
          <p:nvPr/>
        </p:nvSpPr>
        <p:spPr>
          <a:xfrm>
            <a:off x="457200" y="4206240"/>
            <a:ext cx="8229600" cy="502920"/>
          </a:xfrm>
          <a:prstGeom prst="rect">
            <a:avLst/>
          </a:prstGeom>
          <a:noFill/>
          <a:ln/>
        </p:spPr>
        <p:txBody>
          <a:bodyPr wrap="square" lIns="0" tIns="0" rIns="0" bIns="0" rtlCol="0" anchor="ctr"/>
          <a:lstStyle/>
          <a:p>
            <a:pPr algn="ctr" indent="0" marL="0">
              <a:buNone/>
            </a:pPr>
            <a:r>
              <a:rPr lang="en-US" sz="3200" b="1" dirty="0">
                <a:solidFill>
                  <a:schemeClr val="bg1"/>
                </a:solidFill>
              </a:rPr>
              <a:t>Thank You!</a:t>
            </a:r>
            <a:endParaRPr lang="en-US" sz="3200" dirty="0"/>
          </a:p>
        </p:txBody>
      </p:sp>
    </p:spTree>
  </p:cSld>
  <p:clrMapOvr>
    <a:masterClrMapping/>
  </p:clrMapOvr>
</p:sld>
</file>

<file path=ppt/theme/theme1.xml><?xml version="1.0" encoding="utf-8"?>
<a:theme xmlns:a="http://schemas.openxmlformats.org/drawingml/2006/main" name="NammaTrip Karnataka">
  <a:themeElements>
    <a:clrScheme name="NammaTrip Karnataka">
      <a:dk1>
        <a:srgbClr val="0B1F3A"/>
      </a:dk1>
      <a:lt1>
        <a:srgbClr val="FFFFFF"/>
      </a:lt1>
      <a:dk2>
        <a:srgbClr val="1B3F73"/>
      </a:dk2>
      <a:lt2>
        <a:srgbClr val="EEF5F0"/>
      </a:lt2>
      <a:accent1>
        <a:srgbClr val="F5B82E"/>
      </a:accent1>
      <a:accent2>
        <a:srgbClr val="2E7D4F"/>
      </a:accent2>
      <a:accent3>
        <a:srgbClr val="1F4E8C"/>
      </a:accent3>
      <a:accent4>
        <a:srgbClr val="FFE08A"/>
      </a:accent4>
      <a:accent5>
        <a:srgbClr val="7FB89A"/>
      </a:accent5>
      <a:accent6>
        <a:srgbClr val="C0504D"/>
      </a:accent6>
      <a:hlink>
        <a:srgbClr val="1F4E8C"/>
      </a:hlink>
      <a:folHlink>
        <a:srgbClr val="2E7D4F"/>
      </a:folHlink>
    </a:clrScheme>
    <a:fontScheme name="NammaTrip Karnatak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NammaTrip AI - Kannada Digital Innovation Hackathon 2026</dc:title>
  <dc:subject>PptxGenJS Presentation</dc:subject>
  <dc:creator>smiling-coder</dc:creator>
  <cp:lastModifiedBy>smiling-coder</cp:lastModifiedBy>
  <cp:revision>1</cp:revision>
  <dcterms:created xsi:type="dcterms:W3CDTF">2026-10-20T07:38:59Z</dcterms:created>
  <dcterms:modified xsi:type="dcterms:W3CDTF">2026-10-20T07:38:59Z</dcterms:modified>
</cp:coreProperties>
</file>